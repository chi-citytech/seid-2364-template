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notesMasterIdLst>
    <p:notesMasterId r:id="rId44"/>
  </p:notesMasterIdLst>
  <p:sldIdLst>
    <p:sldId id="757" r:id="rId2"/>
    <p:sldId id="758" r:id="rId3"/>
    <p:sldId id="257" r:id="rId4"/>
    <p:sldId id="258" r:id="rId5"/>
    <p:sldId id="259" r:id="rId6"/>
    <p:sldId id="260" r:id="rId7"/>
    <p:sldId id="262" r:id="rId8"/>
    <p:sldId id="261" r:id="rId9"/>
    <p:sldId id="759" r:id="rId10"/>
    <p:sldId id="263" r:id="rId11"/>
    <p:sldId id="264" r:id="rId12"/>
    <p:sldId id="760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71096"/>
  </p:normalViewPr>
  <p:slideViewPr>
    <p:cSldViewPr snapToGrid="0" snapToObjects="1">
      <p:cViewPr varScale="1">
        <p:scale>
          <a:sx n="74" d="100"/>
          <a:sy n="74" d="100"/>
        </p:scale>
        <p:origin x="800" y="4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43E9DC-9AAE-4C78-BBED-46234438610A}" type="doc">
      <dgm:prSet loTypeId="urn:microsoft.com/office/officeart/2005/8/layout/chevron1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2E663C-8729-4D0B-A2A8-4425DCAF1240}">
      <dgm:prSet/>
      <dgm:spPr/>
      <dgm:t>
        <a:bodyPr/>
        <a:lstStyle/>
        <a:p>
          <a:r>
            <a:rPr lang="en-US"/>
            <a:t>From: Who is harmed?</a:t>
          </a:r>
        </a:p>
      </dgm:t>
    </dgm:pt>
    <dgm:pt modelId="{B5664AD7-91BD-4D39-92C3-4D89FD50BB09}" type="parTrans" cxnId="{40C08E0B-7982-4D3E-8726-C3F5DC35E3F5}">
      <dgm:prSet/>
      <dgm:spPr/>
      <dgm:t>
        <a:bodyPr/>
        <a:lstStyle/>
        <a:p>
          <a:endParaRPr lang="en-US"/>
        </a:p>
      </dgm:t>
    </dgm:pt>
    <dgm:pt modelId="{C7599978-20F0-41B0-B1C7-650B81C63EF0}" type="sibTrans" cxnId="{40C08E0B-7982-4D3E-8726-C3F5DC35E3F5}">
      <dgm:prSet/>
      <dgm:spPr/>
      <dgm:t>
        <a:bodyPr/>
        <a:lstStyle/>
        <a:p>
          <a:endParaRPr lang="en-US"/>
        </a:p>
      </dgm:t>
    </dgm:pt>
    <dgm:pt modelId="{D7006B45-C3BA-4E6B-AE19-F11C53F696B8}">
      <dgm:prSet/>
      <dgm:spPr/>
      <dgm:t>
        <a:bodyPr/>
        <a:lstStyle/>
        <a:p>
          <a:r>
            <a:rPr lang="en-US"/>
            <a:t>To: What kinds of harm are being compared?</a:t>
          </a:r>
        </a:p>
      </dgm:t>
    </dgm:pt>
    <dgm:pt modelId="{46596316-53A6-49C3-A38C-DCAEEF3687A6}" type="parTrans" cxnId="{6A450213-305C-4B7B-89EB-F1B7F0C12AD1}">
      <dgm:prSet/>
      <dgm:spPr/>
      <dgm:t>
        <a:bodyPr/>
        <a:lstStyle/>
        <a:p>
          <a:endParaRPr lang="en-US"/>
        </a:p>
      </dgm:t>
    </dgm:pt>
    <dgm:pt modelId="{DB0AF87E-CDFF-4AA1-90AF-31B05464D277}" type="sibTrans" cxnId="{6A450213-305C-4B7B-89EB-F1B7F0C12AD1}">
      <dgm:prSet/>
      <dgm:spPr/>
      <dgm:t>
        <a:bodyPr/>
        <a:lstStyle/>
        <a:p>
          <a:endParaRPr lang="en-US"/>
        </a:p>
      </dgm:t>
    </dgm:pt>
    <dgm:pt modelId="{82EC0345-0A89-6F4F-9F91-88E282234EE5}" type="pres">
      <dgm:prSet presAssocID="{5643E9DC-9AAE-4C78-BBED-46234438610A}" presName="Name0" presStyleCnt="0">
        <dgm:presLayoutVars>
          <dgm:dir/>
          <dgm:animLvl val="lvl"/>
          <dgm:resizeHandles val="exact"/>
        </dgm:presLayoutVars>
      </dgm:prSet>
      <dgm:spPr/>
    </dgm:pt>
    <dgm:pt modelId="{CD64C550-0359-8E46-94A9-72C0BC2CD9E1}" type="pres">
      <dgm:prSet presAssocID="{842E663C-8729-4D0B-A2A8-4425DCAF1240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9E4503AA-6919-A64C-84F3-D2BF0B3D73CE}" type="pres">
      <dgm:prSet presAssocID="{C7599978-20F0-41B0-B1C7-650B81C63EF0}" presName="parTxOnlySpace" presStyleCnt="0"/>
      <dgm:spPr/>
    </dgm:pt>
    <dgm:pt modelId="{3B8E0099-6028-3B40-9DF8-723998E17062}" type="pres">
      <dgm:prSet presAssocID="{D7006B45-C3BA-4E6B-AE19-F11C53F696B8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C08E0B-7982-4D3E-8726-C3F5DC35E3F5}" srcId="{5643E9DC-9AAE-4C78-BBED-46234438610A}" destId="{842E663C-8729-4D0B-A2A8-4425DCAF1240}" srcOrd="0" destOrd="0" parTransId="{B5664AD7-91BD-4D39-92C3-4D89FD50BB09}" sibTransId="{C7599978-20F0-41B0-B1C7-650B81C63EF0}"/>
    <dgm:cxn modelId="{EA48E910-F2FD-8240-AE86-764D23C19EE5}" type="presOf" srcId="{D7006B45-C3BA-4E6B-AE19-F11C53F696B8}" destId="{3B8E0099-6028-3B40-9DF8-723998E17062}" srcOrd="0" destOrd="0" presId="urn:microsoft.com/office/officeart/2005/8/layout/chevron1"/>
    <dgm:cxn modelId="{6A450213-305C-4B7B-89EB-F1B7F0C12AD1}" srcId="{5643E9DC-9AAE-4C78-BBED-46234438610A}" destId="{D7006B45-C3BA-4E6B-AE19-F11C53F696B8}" srcOrd="1" destOrd="0" parTransId="{46596316-53A6-49C3-A38C-DCAEEF3687A6}" sibTransId="{DB0AF87E-CDFF-4AA1-90AF-31B05464D277}"/>
    <dgm:cxn modelId="{67125F3B-4626-6C42-886A-ACA4DC24A71E}" type="presOf" srcId="{5643E9DC-9AAE-4C78-BBED-46234438610A}" destId="{82EC0345-0A89-6F4F-9F91-88E282234EE5}" srcOrd="0" destOrd="0" presId="urn:microsoft.com/office/officeart/2005/8/layout/chevron1"/>
    <dgm:cxn modelId="{ED9791D0-80BF-3448-B09F-5815C8A6E3AD}" type="presOf" srcId="{842E663C-8729-4D0B-A2A8-4425DCAF1240}" destId="{CD64C550-0359-8E46-94A9-72C0BC2CD9E1}" srcOrd="0" destOrd="0" presId="urn:microsoft.com/office/officeart/2005/8/layout/chevron1"/>
    <dgm:cxn modelId="{CAC1B99B-7ABE-3B47-941F-4F7F49099C02}" type="presParOf" srcId="{82EC0345-0A89-6F4F-9F91-88E282234EE5}" destId="{CD64C550-0359-8E46-94A9-72C0BC2CD9E1}" srcOrd="0" destOrd="0" presId="urn:microsoft.com/office/officeart/2005/8/layout/chevron1"/>
    <dgm:cxn modelId="{1955BE8B-070B-BE4A-A4CC-78F280E241CE}" type="presParOf" srcId="{82EC0345-0A89-6F4F-9F91-88E282234EE5}" destId="{9E4503AA-6919-A64C-84F3-D2BF0B3D73CE}" srcOrd="1" destOrd="0" presId="urn:microsoft.com/office/officeart/2005/8/layout/chevron1"/>
    <dgm:cxn modelId="{C269983C-81C6-1C4B-9F7D-0CA0B0663F43}" type="presParOf" srcId="{82EC0345-0A89-6F4F-9F91-88E282234EE5}" destId="{3B8E0099-6028-3B40-9DF8-723998E17062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4C550-0359-8E46-94A9-72C0BC2CD9E1}">
      <dsp:nvSpPr>
        <dsp:cNvPr id="0" name=""/>
        <dsp:cNvSpPr/>
      </dsp:nvSpPr>
      <dsp:spPr>
        <a:xfrm>
          <a:off x="9242" y="1070709"/>
          <a:ext cx="5524797" cy="220991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From: Who is harmed?</a:t>
          </a:r>
        </a:p>
      </dsp:txBody>
      <dsp:txXfrm>
        <a:off x="1114202" y="1070709"/>
        <a:ext cx="3314878" cy="2209919"/>
      </dsp:txXfrm>
    </dsp:sp>
    <dsp:sp modelId="{3B8E0099-6028-3B40-9DF8-723998E17062}">
      <dsp:nvSpPr>
        <dsp:cNvPr id="0" name=""/>
        <dsp:cNvSpPr/>
      </dsp:nvSpPr>
      <dsp:spPr>
        <a:xfrm>
          <a:off x="4981560" y="1070709"/>
          <a:ext cx="5524797" cy="220991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To: What kinds of harm are being compared?</a:t>
          </a:r>
        </a:p>
      </dsp:txBody>
      <dsp:txXfrm>
        <a:off x="6086520" y="1070709"/>
        <a:ext cx="3314878" cy="2209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481B2-BBB4-1B40-A93B-041A570B236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AC6B1-B199-0644-8F39-7921A5FC4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8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5A8A-8E6D-4663-080E-D0338982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AEC59-7847-549D-C77A-5A14ECC17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B5566-8009-BF43-A7E2-BB91ECDE9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going to take the education adventure together. We are going to </a:t>
            </a:r>
            <a:r>
              <a:rPr lang="en-US" dirty="0" err="1"/>
              <a:t>marco</a:t>
            </a:r>
            <a:r>
              <a:rPr lang="en-US" dirty="0"/>
              <a:t>, and go micro, and we are going to see why MU is the right place for you. Lets begin.</a:t>
            </a:r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6A2E0-9F52-A815-1A8C-B6AEC432A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3326D-44F6-4366-892B-520DCBA404BA}" type="slidenum">
              <a:rPr lang="de-AT" smtClean="0"/>
              <a:t>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8046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09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outcomes Source: Utilitarian tradition (Jeremy Bentham, John Stuart Mill) </a:t>
            </a:r>
          </a:p>
          <a:p>
            <a:r>
              <a:rPr lang="en-US" dirty="0"/>
              <a:t>Assessment Mechanism: </a:t>
            </a:r>
          </a:p>
          <a:p>
            <a:r>
              <a:rPr lang="en-US" dirty="0"/>
              <a:t>- Define outcome metrics (types of harm) </a:t>
            </a:r>
          </a:p>
          <a:p>
            <a:r>
              <a:rPr lang="en-US" dirty="0"/>
              <a:t>- Estimate probabilities and magnitudes - Aggregate (sum/expected value) across stakeholders - Sensitivity to weighting assumptions - Check for omitted harms (indirect, long-term, distributional)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20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Focus: rules and constraints Source: Kantian ethics (Immanuel Kant) Assessment Mechanism: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Identify applicable rules/rights/duties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Test for violations (hard constraints)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Evaluate universality/consistency of maxims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Prioritize constraints over outcomes when in conflict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Check for edge cases and rule conflicts (exceptions, thresholds)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7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Focus: judgment and character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Classical Greek philosophy (Aristotle)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Assessment Mechanism: - Identify relevant virtues (e.g., justice, prudence) - Evaluate context-sensitive judgment (phronesis) - Compare actions to exemplar agents - Balance competing virtues (no fixed weighting) - Check for blind spots (bias, cultural variance, lack of codified rules)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C2DA-E28A-F343-EA4B-062EBD4F6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DE67E-5D95-3815-1646-3FE70D275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8B241-303C-A3BE-DEA0-27CFF15B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672A1-F5CB-8A24-2DCB-238860BE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13CD-5C8C-1E91-B582-C1B5C5BB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2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E01D-6908-4809-E99A-AF56C95E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73B67-B11A-2826-3B49-CCA66749B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24905-9517-BDF6-64F7-45D9BD0D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5EE6C-F838-D3C6-435F-3F0E7498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842DD-3400-9F1F-0CB0-5C2F8360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37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8028-D1E3-C340-E0B4-04B37499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EB2CA-93AA-483C-5971-862BEB7CD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FCC5F-AD08-314A-91F9-D009EEC0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414B3-43B9-6EB4-15AB-E456D716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A8891-D103-B6E6-B00F-AA702162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1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3A78-4119-5BE7-65CD-123F9D47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4375-52B9-C4BF-F5FD-27ECAA943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2671A-7BF2-A6D0-A1D8-1B246F039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0C0F4-7496-4353-464D-C6FD3CF0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A0298-0BFC-EFF9-882A-52C50CD3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A672D-A2F2-D20A-7B34-6256F718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4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8AC0-2C3B-6B1D-96F9-47ED20E9D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409B1-52FE-7E68-CD3A-8D52F0BA5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ABC4-962D-C3AD-7753-077B92CD7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52097-16D8-EA1D-FB1B-295AA256C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40331-4F68-C90B-B6A0-E6D786305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9FEF7-C5B1-73AE-F5AC-5183899D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C0621-4BA8-5632-8964-574C73E0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02D9C-5C23-01F0-12C1-B59924D1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8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7DF2-D088-D024-815B-D343845FA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25273-18B5-2B52-03A7-1E963021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B9828-67B5-2328-AED7-D4207D68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1870B-67E4-21A3-3908-A8A5966F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6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A82AF-3147-554B-7731-7DADFB70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7E061-71F4-BC2E-7BB5-9FAC57AC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65875-BE2C-14A0-ED4E-373D4033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4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056F-9C14-A52B-A427-5BF1C926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DABE-6C99-021B-27C8-88E79BA51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D206F-FF92-B460-5397-6784166FB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D2F69-670C-2115-9FA5-C82FD3F8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A6A24-B45D-BF69-E293-6E947481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1F8DC-CFDB-14BA-BF89-81F25114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3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5D61-701E-2448-972E-52F226C7E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26915-8147-581E-0E95-15A5692E8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F5425-1770-027B-6C65-114951C63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75439-9A48-60F2-2754-8F7B4E72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C8B43-0047-E337-56A2-2A820089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94334-FCD7-D41D-DBBF-265E217A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5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BC94-3DA2-A19F-0878-A0169AB6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DAFAA-C065-2416-CCF0-3B20E7DA3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9E461-13B8-BC9C-E11E-2940A261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BF691-FC79-450B-07AE-EBAE2CD6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BB7F9-D94F-484B-461B-05971976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6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D4FF8-20A0-703B-1A8A-1371C9F31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8A5B6-7785-A5E2-2D1D-30B515BB0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DFF24-E4F1-7932-2D23-9D9BBCFE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89FC-15AD-F776-876D-CEFB7371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75F47-2289-E345-24E9-A657F9D5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4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61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2C171-CE33-08AD-513A-FA8ECB98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E953B-6C6F-D4AD-F367-896A65402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32551-8CEE-314C-C0A8-94EA14994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7F51-AA6A-59EE-A7D7-5846052A5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78ED6-058E-6D97-2F2F-F5CE11584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4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I-CityTech/SEID-2364/blob/main/resources/04-SEID2364-in-class_github_tasks.m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771E-42C1-0A3C-494E-C79BD020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uilding with a tower in the background&#10;&#10;Description automatically generated">
            <a:extLst>
              <a:ext uri="{FF2B5EF4-FFF2-40B4-BE49-F238E27FC236}">
                <a16:creationId xmlns:a16="http://schemas.microsoft.com/office/drawing/2014/main" id="{59CFC2F8-B3FC-6A13-4304-2BE14DA34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4C4A5A-7130-7F0A-2021-267877D4EE4A}"/>
              </a:ext>
            </a:extLst>
          </p:cNvPr>
          <p:cNvSpPr txBox="1"/>
          <p:nvPr/>
        </p:nvSpPr>
        <p:spPr>
          <a:xfrm>
            <a:off x="-3368220" y="2678052"/>
            <a:ext cx="53251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685783">
              <a:defRPr/>
            </a:pPr>
            <a:endParaRPr lang="de-DE" sz="2000" dirty="0">
              <a:latin typeface="Gotham Medium" panose="0200060403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72CF8-4913-7D79-0FC4-28259AAFCFCB}"/>
              </a:ext>
            </a:extLst>
          </p:cNvPr>
          <p:cNvSpPr txBox="1"/>
          <p:nvPr/>
        </p:nvSpPr>
        <p:spPr>
          <a:xfrm>
            <a:off x="649312" y="5467880"/>
            <a:ext cx="2538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 dirty="0">
                <a:solidFill>
                  <a:srgbClr val="35417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David B. Smith</a:t>
            </a:r>
            <a:endParaRPr lang="en-AT" sz="1400" spc="100" dirty="0">
              <a:solidFill>
                <a:srgbClr val="354174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86D5BBF8-5212-4DA6-FA38-591AEBCA4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380" y="581259"/>
            <a:ext cx="2286003" cy="8572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180595-7540-2B40-4F17-9BDDDDBD9991}"/>
              </a:ext>
            </a:extLst>
          </p:cNvPr>
          <p:cNvSpPr txBox="1"/>
          <p:nvPr/>
        </p:nvSpPr>
        <p:spPr>
          <a:xfrm>
            <a:off x="649311" y="2678052"/>
            <a:ext cx="3345745" cy="36933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685783">
              <a:defRPr/>
            </a:pPr>
            <a:r>
              <a:rPr lang="en-GB" sz="16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SESSION 4</a:t>
            </a:r>
            <a:endParaRPr lang="de-DE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2C8FB-D0CA-5A83-29F5-7FA79E4ABBAA}"/>
              </a:ext>
            </a:extLst>
          </p:cNvPr>
          <p:cNvSpPr txBox="1"/>
          <p:nvPr/>
        </p:nvSpPr>
        <p:spPr>
          <a:xfrm>
            <a:off x="649311" y="839140"/>
            <a:ext cx="231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spc="100" dirty="0">
                <a:solidFill>
                  <a:srgbClr val="35417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MODUL UNIVERSITY VIENNA</a:t>
            </a:r>
            <a:endParaRPr lang="en-AT" sz="1100" spc="100" dirty="0">
              <a:solidFill>
                <a:srgbClr val="354174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712B4BA3-BFA3-B213-C883-243595D6F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371" y="648492"/>
            <a:ext cx="722784" cy="7227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80E5C0-32CD-AED9-F6D6-4EAFCB7697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69988"/>
            <a:ext cx="4922838" cy="1508125"/>
          </a:xfrm>
        </p:spPr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3600" b="1" kern="1200" dirty="0">
                <a:solidFill>
                  <a:srgbClr val="354174"/>
                </a:solidFill>
                <a:effectLst/>
                <a:latin typeface="Century Gothic" panose="020B050202020202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SEID 2364: Societal and Ethical Impact of Data Science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87553-AB45-A2E4-9226-512B99455A71}"/>
              </a:ext>
            </a:extLst>
          </p:cNvPr>
          <p:cNvSpPr txBox="1"/>
          <p:nvPr/>
        </p:nvSpPr>
        <p:spPr>
          <a:xfrm>
            <a:off x="1242824" y="3429000"/>
            <a:ext cx="3889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Frameworks</a:t>
            </a:r>
          </a:p>
        </p:txBody>
      </p:sp>
    </p:spTree>
    <p:extLst>
      <p:ext uri="{BB962C8B-B14F-4D97-AF65-F5344CB8AC3E}">
        <p14:creationId xmlns:p14="http://schemas.microsoft.com/office/powerpoint/2010/main" val="24634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Opening Provocations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405EAC-808F-4938-37E0-72FD2725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410" y="841247"/>
            <a:ext cx="4484536" cy="53400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b="0" i="0" u="none" strike="noStrike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Write in your private </a:t>
            </a:r>
            <a:r>
              <a:rPr lang="en-US" altLang="en-US">
                <a:solidFill>
                  <a:schemeClr val="tx2"/>
                </a:solidFill>
              </a:rPr>
              <a:t>journal </a:t>
            </a: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endParaRPr lang="en-US" altLang="en-US">
              <a:solidFill>
                <a:schemeClr val="tx2"/>
              </a:solidFill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Stream of consciousness.</a:t>
            </a: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endParaRPr lang="en-US" altLang="en-US">
              <a:solidFill>
                <a:schemeClr val="tx2"/>
              </a:solidFill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Capture your </a:t>
            </a:r>
            <a:r>
              <a:rPr kumimoji="0" lang="en-US" altLang="en-US" b="1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immediate intuition</a:t>
            </a:r>
            <a:r>
              <a:rPr kumimoji="0" lang="en-US" altLang="en-US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, not a polished or argued answer.</a:t>
            </a: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endParaRPr lang="en-US" altLang="en-US">
              <a:solidFill>
                <a:schemeClr val="tx2"/>
              </a:solidFill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Do not analyze or justify.</a:t>
            </a: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endParaRPr lang="en-US" altLang="en-US">
              <a:solidFill>
                <a:schemeClr val="tx2"/>
              </a:solidFill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Words or short phrases are enough.</a:t>
            </a:r>
          </a:p>
        </p:txBody>
      </p:sp>
    </p:spTree>
    <p:extLst>
      <p:ext uri="{BB962C8B-B14F-4D97-AF65-F5344CB8AC3E}">
        <p14:creationId xmlns:p14="http://schemas.microsoft.com/office/powerpoint/2010/main" val="39849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4687" y="841664"/>
            <a:ext cx="486760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When no option avoids harm, what does it mean to choose the “right” action?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Provocation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Provide an example where two people arrive at different—but defensible—evaluations of harm in the same situation.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4687" y="841664"/>
            <a:ext cx="486760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different ways might people decide between competing harms?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Today’s Plan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workflow (GitHub + Zotero)</a:t>
            </a:r>
          </a:p>
          <a:p>
            <a:r>
              <a:rPr dirty="0"/>
              <a:t>how we make decisions about harm</a:t>
            </a:r>
          </a:p>
          <a:p>
            <a:r>
              <a:rPr dirty="0"/>
              <a:t>Build toward structured decision-making</a:t>
            </a:r>
            <a:r>
              <a:rPr lang="en-US" dirty="0"/>
              <a:t> (frameworks)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Workflow Integration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t>GitHub → structure and presentation</a:t>
            </a:r>
          </a:p>
          <a:p>
            <a:r>
              <a:t>Zotero → research and citation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r>
              <a:rPr dirty="0"/>
              <a:t> Repository</a:t>
            </a:r>
            <a:r>
              <a:rPr lang="en-US" dirty="0"/>
              <a:t> folder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19412"/>
            <a:ext cx="10515600" cy="2876551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In‑Class GitHub Tasks</a:t>
            </a: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Convert Assignment 3 to </a:t>
            </a:r>
            <a:r>
              <a:rPr lang="en-US" alt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Markdown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 (</a:t>
            </a:r>
            <a:r>
              <a:rPr lang="en-US" altLang="en-US" dirty="0">
                <a:solidFill>
                  <a:srgbClr val="000000"/>
                </a:solidFill>
                <a:latin typeface="Arial Unicode MS" panose="020B0604020202020204" pitchFamily="34" charset="-128"/>
              </a:rPr>
              <a:t>harm-</a:t>
            </a:r>
            <a:r>
              <a:rPr lang="en-US" altLang="en-US" dirty="0" err="1">
                <a:solidFill>
                  <a:srgbClr val="000000"/>
                </a:solidFill>
                <a:latin typeface="Arial Unicode MS" panose="020B0604020202020204" pitchFamily="34" charset="-128"/>
              </a:rPr>
              <a:t>analysis.md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) and upload it to your folder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Create </a:t>
            </a:r>
            <a:r>
              <a:rPr lang="en-US" altLang="en-US" dirty="0" err="1">
                <a:solidFill>
                  <a:srgbClr val="000000"/>
                </a:solidFill>
                <a:latin typeface="Arial Unicode MS" panose="020B0604020202020204" pitchFamily="34" charset="-128"/>
              </a:rPr>
              <a:t>README.md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 with your current definitions of </a:t>
            </a:r>
            <a:r>
              <a:rPr lang="en-US" alt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Ethics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, </a:t>
            </a:r>
            <a:r>
              <a:rPr lang="en-US" alt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Intelligence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, and </a:t>
            </a:r>
            <a:r>
              <a:rPr lang="en-US" alt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Harm</a:t>
            </a: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Commit and push both files to your personal branch</a:t>
            </a:r>
          </a:p>
          <a:p>
            <a:endParaRPr lang="en-US" dirty="0"/>
          </a:p>
        </p:txBody>
      </p:sp>
      <p:pic>
        <p:nvPicPr>
          <p:cNvPr id="1027" name="Picture 3" descr="QR Code Image">
            <a:extLst>
              <a:ext uri="{FF2B5EF4-FFF2-40B4-BE49-F238E27FC236}">
                <a16:creationId xmlns:a16="http://schemas.microsoft.com/office/drawing/2014/main" id="{8BF34CCF-FB13-48CD-A685-C5CB264B3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88" y="254000"/>
            <a:ext cx="23749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3C5062-8ACE-F746-F7FA-AD0D3F5116FE}"/>
              </a:ext>
            </a:extLst>
          </p:cNvPr>
          <p:cNvSpPr txBox="1"/>
          <p:nvPr/>
        </p:nvSpPr>
        <p:spPr>
          <a:xfrm>
            <a:off x="8970713" y="2628900"/>
            <a:ext cx="2625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GitHub Assignment Link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87E6-BC31-B336-5270-E9D970F5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Zotero – Add a Citation.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3B2601-E241-7BB3-4E0A-FAF015FC5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93080"/>
            <a:ext cx="1004887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In‑Class Zotero Task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Add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one scholarly or credible source related to harm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to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shared Zotero library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Create your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own Zotero collection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to organize sources for your emerging research project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Ensure the citation is complete (metadata + link or attachment)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06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to Your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will now examine how we made our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a scenario from your Week 3 Harm Analysis</a:t>
            </a:r>
          </a:p>
          <a:p>
            <a:r>
              <a:rPr dirty="0"/>
              <a:t>Or use a provocation scenario</a:t>
            </a:r>
          </a:p>
          <a:p>
            <a:r>
              <a:rPr dirty="0"/>
              <a:t>Reduce to a short label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7C2F-487A-51B8-CA37-AEF7A88D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BOARD LAYOUT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0FEFF-6C67-CEC1-8F65-B8DBED166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2951256"/>
              </p:ext>
            </p:extLst>
          </p:nvPr>
        </p:nvGraphicFramePr>
        <p:xfrm>
          <a:off x="838200" y="2147888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998287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66534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34690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1. Scenario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 Harm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3. Decision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783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&amp; actors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Types of harm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dilemma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56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 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Stakeholders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Trade-off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98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Conflicts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X vs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891898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D0057621-584C-FDED-DE00-F9C24B295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2013"/>
            <a:ext cx="10663238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2219AD1-C74D-871B-C69B-8E7B2C6A3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65831"/>
            <a:ext cx="91916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Whiteboard Activity (3 Columns)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25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Reasoning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Minimize total harm</a:t>
            </a:r>
          </a:p>
          <a:p>
            <a:r>
              <a:t>Do not intentionally harm</a:t>
            </a:r>
          </a:p>
          <a:p>
            <a:r>
              <a:t>Foreseeability matters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Points of 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Individual vs societal harm</a:t>
            </a:r>
          </a:p>
          <a:p>
            <a:r>
              <a:rPr dirty="0"/>
              <a:t>Certainty vs probability</a:t>
            </a:r>
          </a:p>
          <a:p>
            <a:r>
              <a:rPr dirty="0"/>
              <a:t>Responsibility assignment</a:t>
            </a:r>
            <a:endParaRPr lang="en-US" dirty="0"/>
          </a:p>
          <a:p>
            <a:r>
              <a:rPr lang="en-US" dirty="0"/>
              <a:t>Quantifying Harm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Are we comparing different kinds of harm, or the same harm applied to different people?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Extending the Scenario</a:t>
            </a:r>
            <a:r>
              <a:rPr lang="en-US" dirty="0"/>
              <a:t>: Multi-factor harm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Death vs injury</a:t>
            </a:r>
          </a:p>
          <a:p>
            <a:r>
              <a:rPr dirty="0"/>
              <a:t>Immediate harm vs long-term societal trust</a:t>
            </a:r>
          </a:p>
          <a:p>
            <a:r>
              <a:rPr dirty="0"/>
              <a:t>Individual harm vs systemic impact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322810-FB35-A3E9-20CC-09E2465644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Key Shift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9121BA-BE47-B534-1990-115D00763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3132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E2E8FE-B87B-430D-9722-167B5E2C2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317E150D-1742-55A3-D469-EEA5BA5530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21053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Instability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4400">
                <a:solidFill>
                  <a:srgbClr val="FFFFFF"/>
                </a:solidFill>
              </a:rPr>
              <a:t>Different people → different answers Same situation → different evaluations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two people can justify different decisions, what does that suggest about how we are deciding?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decisions rely only on individual judgment, outcomes may be inconsistent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need a way to make decisions more consistent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framework system is useful only if it can…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Consistency</a:t>
            </a:r>
          </a:p>
          <a:p>
            <a:r>
              <a:t>Clarity</a:t>
            </a:r>
          </a:p>
          <a:p>
            <a:r>
              <a:t>Fairness</a:t>
            </a:r>
          </a:p>
          <a:p>
            <a:r>
              <a:t>Applicability</a:t>
            </a:r>
          </a:p>
          <a:p>
            <a:r>
              <a:t>Justification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Assessment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we know if a framework actually satisfies these conditions?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Focus: Fairness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a system claims to be fair, how would we determine that?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</a:t>
            </a:r>
          </a:p>
          <a:p>
            <a:r>
              <a:t>Economic</a:t>
            </a:r>
          </a:p>
          <a:p>
            <a:r>
              <a:t>Psychological</a:t>
            </a:r>
          </a:p>
          <a:p>
            <a:r>
              <a:t>Social</a:t>
            </a:r>
          </a:p>
          <a:p>
            <a:r>
              <a:t>Reputational</a:t>
            </a:r>
          </a:p>
          <a:p>
            <a:r>
              <a:t>Temporal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</a:t>
            </a:r>
          </a:p>
          <a:p>
            <a:r>
              <a:t>Societal / System-level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Comparison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we compare different types of harm?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 injury vs financial loss</a:t>
            </a:r>
          </a:p>
          <a:p>
            <a:r>
              <a:t>Individual vs societal harm</a:t>
            </a:r>
          </a:p>
          <a:p>
            <a:r>
              <a:t>Immediate vs delayed harm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Harms are not directly comparable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requires a system, not intuition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parameters</a:t>
            </a:r>
          </a:p>
          <a:p>
            <a:r>
              <a:t>Measure magnitude</a:t>
            </a:r>
          </a:p>
          <a:p>
            <a:r>
              <a:t>Compare across types</a:t>
            </a:r>
          </a:p>
          <a:p>
            <a:r>
              <a:t>Account for scope</a:t>
            </a:r>
          </a:p>
          <a:p>
            <a:r>
              <a:t>Determine weighting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harm to a group justify harm to an individual?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systems solve these problems in different ways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1" y="802955"/>
            <a:ext cx="5958437" cy="1454051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tx2"/>
                </a:solidFill>
              </a:rPr>
              <a:t>Consequentialism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03E5D6-1992-C93F-C89A-C6D72E11B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7513" y="2007614"/>
            <a:ext cx="5565224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Ethical value depends on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magnitude and distribution of harms and benefits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 produced by an action.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Graphic 7" descr="Scales of Justice">
            <a:extLst>
              <a:ext uri="{FF2B5EF4-FFF2-40B4-BE49-F238E27FC236}">
                <a16:creationId xmlns:a16="http://schemas.microsoft.com/office/drawing/2014/main" id="{4BE6ACE4-EC55-1398-9202-01D35FA44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1314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Deontology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44A3CB-17E7-8DF8-0734-74FAE4954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11981" y="3429000"/>
            <a:ext cx="5188034" cy="6820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fontAlgn="base"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Ethical value depends on </a:t>
            </a:r>
            <a:r>
              <a:rPr kumimoji="0" lang="en-US" altLang="en-US" b="1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rule compliance</a:t>
            </a: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, not harm minimization.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053641"/>
            <a:ext cx="4267660" cy="276009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2"/>
                </a:solidFill>
              </a:rPr>
              <a:t>Virtue Ethics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009C49-F5CE-EF26-2DB5-3105FABD9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4" y="801866"/>
            <a:ext cx="5306084" cy="5230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Ethical value depends on 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judgment and character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, not calculable rules or outcomes.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frameworks produce different answers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is not agreement, but structured reasoning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will investigate and test a framework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scenario (from Week 3 or class board)</a:t>
            </a:r>
          </a:p>
          <a:p>
            <a:r>
              <a:t>Identify types of harm</a:t>
            </a:r>
          </a:p>
          <a:p>
            <a:r>
              <a:t>Research one framework (source + principles)</a:t>
            </a:r>
          </a:p>
          <a:p>
            <a:r>
              <a:t>Apply the framework to the scenario</a:t>
            </a:r>
          </a:p>
          <a:p>
            <a:r>
              <a:t>Test weighting across harm types</a:t>
            </a:r>
          </a:p>
          <a:p>
            <a:r>
              <a:t>Evaluate outcomes and limitations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systems → different answers Structured reasoning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946</Words>
  <Application>Microsoft Macintosh PowerPoint</Application>
  <PresentationFormat>Widescreen</PresentationFormat>
  <Paragraphs>170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 Unicode MS</vt:lpstr>
      <vt:lpstr>Aptos</vt:lpstr>
      <vt:lpstr>Aptos Display</vt:lpstr>
      <vt:lpstr>Arial</vt:lpstr>
      <vt:lpstr>Calibri</vt:lpstr>
      <vt:lpstr>Century Gothic</vt:lpstr>
      <vt:lpstr>Gotham Medium</vt:lpstr>
      <vt:lpstr>Segoe UI</vt:lpstr>
      <vt:lpstr>Source Sans Pro</vt:lpstr>
      <vt:lpstr>Office Theme</vt:lpstr>
      <vt:lpstr>SEID 2364: Societal and Ethical Impact of Data Science</vt:lpstr>
      <vt:lpstr>Opening Provocations</vt:lpstr>
      <vt:lpstr>Provocation</vt:lpstr>
      <vt:lpstr>Provocation</vt:lpstr>
      <vt:lpstr>Provocation</vt:lpstr>
      <vt:lpstr>Today’s Plan</vt:lpstr>
      <vt:lpstr>Workflow Integration</vt:lpstr>
      <vt:lpstr>GitHub Repository folder</vt:lpstr>
      <vt:lpstr>Zotero – Add a Citation.</vt:lpstr>
      <vt:lpstr>Return to Your Responses</vt:lpstr>
      <vt:lpstr>Scenario Extraction</vt:lpstr>
      <vt:lpstr>WHITE BOARD LAYOUT</vt:lpstr>
      <vt:lpstr>Reasoning Examples</vt:lpstr>
      <vt:lpstr>Points of Tension</vt:lpstr>
      <vt:lpstr>Question</vt:lpstr>
      <vt:lpstr>Extending the Scenario: Multi-factor harm</vt:lpstr>
      <vt:lpstr>Key Shift</vt:lpstr>
      <vt:lpstr>Instability</vt:lpstr>
      <vt:lpstr>Question</vt:lpstr>
      <vt:lpstr>Problem</vt:lpstr>
      <vt:lpstr>Transition</vt:lpstr>
      <vt:lpstr>Framework Systems</vt:lpstr>
      <vt:lpstr>Possible Criteria</vt:lpstr>
      <vt:lpstr>The Assessment Problem</vt:lpstr>
      <vt:lpstr>Example Focus: Fairness</vt:lpstr>
      <vt:lpstr>Harm Types</vt:lpstr>
      <vt:lpstr>Scope of Harm</vt:lpstr>
      <vt:lpstr>The Comparison Problem</vt:lpstr>
      <vt:lpstr>Examples</vt:lpstr>
      <vt:lpstr>Key Insight</vt:lpstr>
      <vt:lpstr>Implication</vt:lpstr>
      <vt:lpstr>System Requirements</vt:lpstr>
      <vt:lpstr>Question</vt:lpstr>
      <vt:lpstr>Frameworks Exist</vt:lpstr>
      <vt:lpstr>Consequentialism</vt:lpstr>
      <vt:lpstr>Deontology</vt:lpstr>
      <vt:lpstr>Virtue Ethics</vt:lpstr>
      <vt:lpstr>Application</vt:lpstr>
      <vt:lpstr>Key Idea</vt:lpstr>
      <vt:lpstr>Assignment Preview</vt:lpstr>
      <vt:lpstr>Assignment Components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Smith</cp:lastModifiedBy>
  <cp:revision>5</cp:revision>
  <dcterms:created xsi:type="dcterms:W3CDTF">2013-01-27T09:14:16Z</dcterms:created>
  <dcterms:modified xsi:type="dcterms:W3CDTF">2026-03-19T16:20:31Z</dcterms:modified>
  <cp:category/>
</cp:coreProperties>
</file>