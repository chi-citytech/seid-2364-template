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7" r:id="rId4"/>
  </p:sldMasterIdLst>
  <p:notesMasterIdLst>
    <p:notesMasterId r:id="rId26"/>
  </p:notesMasterIdLst>
  <p:handoutMasterIdLst>
    <p:handoutMasterId r:id="rId27"/>
  </p:handoutMasterIdLst>
  <p:sldIdLst>
    <p:sldId id="757" r:id="rId5"/>
    <p:sldId id="758" r:id="rId6"/>
    <p:sldId id="2600" r:id="rId7"/>
    <p:sldId id="2599" r:id="rId8"/>
    <p:sldId id="2601" r:id="rId9"/>
    <p:sldId id="2602" r:id="rId10"/>
    <p:sldId id="2603" r:id="rId11"/>
    <p:sldId id="2604" r:id="rId12"/>
    <p:sldId id="2605" r:id="rId13"/>
    <p:sldId id="2572" r:id="rId14"/>
    <p:sldId id="2606" r:id="rId15"/>
    <p:sldId id="289" r:id="rId16"/>
    <p:sldId id="2579" r:id="rId17"/>
    <p:sldId id="2607" r:id="rId18"/>
    <p:sldId id="2609" r:id="rId19"/>
    <p:sldId id="2608" r:id="rId20"/>
    <p:sldId id="2610" r:id="rId21"/>
    <p:sldId id="2595" r:id="rId22"/>
    <p:sldId id="2596" r:id="rId23"/>
    <p:sldId id="2597" r:id="rId24"/>
    <p:sldId id="259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lanced Blended Space (BBS) – SEID 2364 Session 5" id="{F7AE84C5-3C3E-4925-8664-CF2AEFCE9C05}">
          <p14:sldIdLst>
            <p14:sldId id="757"/>
          </p14:sldIdLst>
        </p14:section>
        <p14:section name="Session Introduction" id="{C8775127-B63D-4AD4-89B0-7C4E3788B6DC}">
          <p14:sldIdLst>
            <p14:sldId id="758"/>
          </p14:sldIdLst>
        </p14:section>
        <p14:section name="Opening Provocations" id="{724B0C07-F5A1-4299-8148-42B86C52CAC1}">
          <p14:sldIdLst>
            <p14:sldId id="2600"/>
            <p14:sldId id="2599"/>
          </p14:sldIdLst>
        </p14:section>
        <p14:section name="Provocation Prompts" id="{BFADAA91-9067-496D-8DC7-AED9D2485645}">
          <p14:sldIdLst>
            <p14:sldId id="2601"/>
            <p14:sldId id="2602"/>
            <p14:sldId id="2603"/>
            <p14:sldId id="2604"/>
            <p14:sldId id="2605"/>
            <p14:sldId id="2572"/>
            <p14:sldId id="2606"/>
          </p14:sldIdLst>
        </p14:section>
        <p14:section name="Zotero Activity" id="{CDB625CE-F219-432B-AFB2-F96D154DF919}">
          <p14:sldIdLst/>
        </p14:section>
        <p14:section name="System Transition and Need" id="{9ACC7D19-649F-4033-9F65-B1B159969320}">
          <p14:sldIdLst>
            <p14:sldId id="289"/>
            <p14:sldId id="2579"/>
            <p14:sldId id="2607"/>
          </p14:sldIdLst>
        </p14:section>
        <p14:section name="Lecture Content" id="{2882FE44-ACB0-44A6-8FDE-C146A73D207C}">
          <p14:sldIdLst>
            <p14:sldId id="2609"/>
            <p14:sldId id="2608"/>
            <p14:sldId id="2610"/>
          </p14:sldIdLst>
        </p14:section>
        <p14:section name="Conclusion and Next Steps" id="{6D81664D-0CBE-4DE4-8DDE-117039495275}">
          <p14:sldIdLst>
            <p14:sldId id="2595"/>
            <p14:sldId id="2596"/>
            <p14:sldId id="2597"/>
            <p14:sldId id="25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5FC3DA-F4B8-471A-B9F6-900B07CCB26B}" v="1" dt="2026-03-26T10:44:35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03" autoAdjust="0"/>
    <p:restoredTop sz="96301"/>
  </p:normalViewPr>
  <p:slideViewPr>
    <p:cSldViewPr showGuides="1">
      <p:cViewPr varScale="1">
        <p:scale>
          <a:sx n="98" d="100"/>
          <a:sy n="98" d="100"/>
        </p:scale>
        <p:origin x="232" y="8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E785D9-4DC3-4B32-A505-AAF4D58FDEA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6D3DEA1-73D5-495D-A144-59AD2E90225B}">
      <dgm:prSet/>
      <dgm:spPr/>
      <dgm:t>
        <a:bodyPr/>
        <a:lstStyle/>
        <a:p>
          <a:r>
            <a:rPr lang="en-US"/>
            <a:t>Frameworks are models, not reality</a:t>
          </a:r>
        </a:p>
      </dgm:t>
    </dgm:pt>
    <dgm:pt modelId="{29D2F27C-1E39-48E0-9B53-6F51A435B0F6}" type="parTrans" cxnId="{D47468F6-44B1-4FD7-B353-43345A8D8475}">
      <dgm:prSet/>
      <dgm:spPr/>
      <dgm:t>
        <a:bodyPr/>
        <a:lstStyle/>
        <a:p>
          <a:endParaRPr lang="en-US"/>
        </a:p>
      </dgm:t>
    </dgm:pt>
    <dgm:pt modelId="{5783270A-11D6-442F-A555-01CBFDDA089D}" type="sibTrans" cxnId="{D47468F6-44B1-4FD7-B353-43345A8D8475}">
      <dgm:prSet/>
      <dgm:spPr/>
      <dgm:t>
        <a:bodyPr/>
        <a:lstStyle/>
        <a:p>
          <a:endParaRPr lang="en-US"/>
        </a:p>
      </dgm:t>
    </dgm:pt>
    <dgm:pt modelId="{4B20742F-01B5-4D0A-88BB-17FAFC75D3A6}">
      <dgm:prSet/>
      <dgm:spPr/>
      <dgm:t>
        <a:bodyPr/>
        <a:lstStyle/>
        <a:p>
          <a:r>
            <a:rPr lang="en-US"/>
            <a:t>Models emphasize and omit</a:t>
          </a:r>
        </a:p>
      </dgm:t>
    </dgm:pt>
    <dgm:pt modelId="{8C608387-9DB2-4AD7-928D-E1EE458CD5DA}" type="parTrans" cxnId="{33F83306-457C-42AA-8125-F8A89AFE37A9}">
      <dgm:prSet/>
      <dgm:spPr/>
      <dgm:t>
        <a:bodyPr/>
        <a:lstStyle/>
        <a:p>
          <a:endParaRPr lang="en-US"/>
        </a:p>
      </dgm:t>
    </dgm:pt>
    <dgm:pt modelId="{378A982C-8CBD-4916-8C46-CD40AE717295}" type="sibTrans" cxnId="{33F83306-457C-42AA-8125-F8A89AFE37A9}">
      <dgm:prSet/>
      <dgm:spPr/>
      <dgm:t>
        <a:bodyPr/>
        <a:lstStyle/>
        <a:p>
          <a:endParaRPr lang="en-US"/>
        </a:p>
      </dgm:t>
    </dgm:pt>
    <dgm:pt modelId="{A88744AB-79CB-4C2E-84A7-E0CE2B123F40}">
      <dgm:prSet/>
      <dgm:spPr/>
      <dgm:t>
        <a:bodyPr/>
        <a:lstStyle/>
        <a:p>
          <a:r>
            <a:rPr lang="en-US"/>
            <a:t>Different models → different conclusions</a:t>
          </a:r>
        </a:p>
      </dgm:t>
    </dgm:pt>
    <dgm:pt modelId="{7A2F9E1D-BE91-47ED-96A9-C070E81D5883}" type="parTrans" cxnId="{E9917C10-559A-4959-ACC6-1C888634A71D}">
      <dgm:prSet/>
      <dgm:spPr/>
      <dgm:t>
        <a:bodyPr/>
        <a:lstStyle/>
        <a:p>
          <a:endParaRPr lang="en-US"/>
        </a:p>
      </dgm:t>
    </dgm:pt>
    <dgm:pt modelId="{D6C401BB-1614-45A7-ABAB-8ABA8D950606}" type="sibTrans" cxnId="{E9917C10-559A-4959-ACC6-1C888634A71D}">
      <dgm:prSet/>
      <dgm:spPr/>
      <dgm:t>
        <a:bodyPr/>
        <a:lstStyle/>
        <a:p>
          <a:endParaRPr lang="en-US"/>
        </a:p>
      </dgm:t>
    </dgm:pt>
    <dgm:pt modelId="{394BE63C-B8FB-4F48-82C1-E5898A1213ED}">
      <dgm:prSet/>
      <dgm:spPr/>
      <dgm:t>
        <a:bodyPr/>
        <a:lstStyle/>
        <a:p>
          <a:r>
            <a:rPr lang="en-US"/>
            <a:t>Disagreement is structural, not mistaken</a:t>
          </a:r>
        </a:p>
      </dgm:t>
    </dgm:pt>
    <dgm:pt modelId="{A8EFFDFA-7CBA-4715-A995-EC263EFAD22C}" type="parTrans" cxnId="{558BF803-BBB8-47A0-B4EA-93EB93FB9C81}">
      <dgm:prSet/>
      <dgm:spPr/>
      <dgm:t>
        <a:bodyPr/>
        <a:lstStyle/>
        <a:p>
          <a:endParaRPr lang="en-US"/>
        </a:p>
      </dgm:t>
    </dgm:pt>
    <dgm:pt modelId="{58AB73DE-91CC-41BC-9404-F39F3CD498BC}" type="sibTrans" cxnId="{558BF803-BBB8-47A0-B4EA-93EB93FB9C81}">
      <dgm:prSet/>
      <dgm:spPr/>
      <dgm:t>
        <a:bodyPr/>
        <a:lstStyle/>
        <a:p>
          <a:endParaRPr lang="en-US"/>
        </a:p>
      </dgm:t>
    </dgm:pt>
    <dgm:pt modelId="{1D38FCBF-A466-409B-96D7-97AE9AEEDAEC}">
      <dgm:prSet/>
      <dgm:spPr/>
      <dgm:t>
        <a:bodyPr/>
        <a:lstStyle/>
        <a:p>
          <a:r>
            <a:rPr lang="en-US"/>
            <a:t>Framework choice is the decision</a:t>
          </a:r>
        </a:p>
      </dgm:t>
    </dgm:pt>
    <dgm:pt modelId="{3AC2A55D-3895-4E61-91A3-FBFC93ED73E3}" type="parTrans" cxnId="{80586B7A-37F6-4F14-9D4F-FC160074FF26}">
      <dgm:prSet/>
      <dgm:spPr/>
      <dgm:t>
        <a:bodyPr/>
        <a:lstStyle/>
        <a:p>
          <a:endParaRPr lang="en-US"/>
        </a:p>
      </dgm:t>
    </dgm:pt>
    <dgm:pt modelId="{228ECA5D-8CCB-4A84-B1F1-D048591549F3}" type="sibTrans" cxnId="{80586B7A-37F6-4F14-9D4F-FC160074FF26}">
      <dgm:prSet/>
      <dgm:spPr/>
      <dgm:t>
        <a:bodyPr/>
        <a:lstStyle/>
        <a:p>
          <a:endParaRPr lang="en-US"/>
        </a:p>
      </dgm:t>
    </dgm:pt>
    <dgm:pt modelId="{6CEA6F9A-F3AF-4099-8206-6D7EA668B688}">
      <dgm:prSet/>
      <dgm:spPr/>
      <dgm:t>
        <a:bodyPr/>
        <a:lstStyle/>
        <a:p>
          <a:r>
            <a:rPr lang="en-US"/>
            <a:t>No framework can justify itself</a:t>
          </a:r>
        </a:p>
      </dgm:t>
    </dgm:pt>
    <dgm:pt modelId="{3A042E2D-7FBA-4B7A-8F64-D4B63A63F38A}" type="parTrans" cxnId="{05548107-78AB-48B2-8254-99942B30B3FB}">
      <dgm:prSet/>
      <dgm:spPr/>
      <dgm:t>
        <a:bodyPr/>
        <a:lstStyle/>
        <a:p>
          <a:endParaRPr lang="en-US"/>
        </a:p>
      </dgm:t>
    </dgm:pt>
    <dgm:pt modelId="{F21A3D15-3C92-4943-889E-8AEA0244242D}" type="sibTrans" cxnId="{05548107-78AB-48B2-8254-99942B30B3FB}">
      <dgm:prSet/>
      <dgm:spPr/>
      <dgm:t>
        <a:bodyPr/>
        <a:lstStyle/>
        <a:p>
          <a:endParaRPr lang="en-US"/>
        </a:p>
      </dgm:t>
    </dgm:pt>
    <dgm:pt modelId="{5DA63061-2CDF-47CC-8C2E-B64832AB5150}">
      <dgm:prSet/>
      <dgm:spPr/>
      <dgm:t>
        <a:bodyPr/>
        <a:lstStyle/>
        <a:p>
          <a:r>
            <a:rPr lang="en-US"/>
            <a:t>Comparison requires a meta‑framework</a:t>
          </a:r>
        </a:p>
      </dgm:t>
    </dgm:pt>
    <dgm:pt modelId="{C3DE6FB2-7993-4315-BA3A-30BC18AB82F5}" type="parTrans" cxnId="{9DB273E3-CDDF-4717-8658-E3169E3E1FB2}">
      <dgm:prSet/>
      <dgm:spPr/>
      <dgm:t>
        <a:bodyPr/>
        <a:lstStyle/>
        <a:p>
          <a:endParaRPr lang="en-US"/>
        </a:p>
      </dgm:t>
    </dgm:pt>
    <dgm:pt modelId="{D64268F2-FD3A-47D9-932D-E2A4C9EE8004}" type="sibTrans" cxnId="{9DB273E3-CDDF-4717-8658-E3169E3E1FB2}">
      <dgm:prSet/>
      <dgm:spPr/>
      <dgm:t>
        <a:bodyPr/>
        <a:lstStyle/>
        <a:p>
          <a:endParaRPr lang="en-US"/>
        </a:p>
      </dgm:t>
    </dgm:pt>
    <dgm:pt modelId="{F30DB7A0-27AC-F340-BB91-B050DD58F85F}" type="pres">
      <dgm:prSet presAssocID="{4FE785D9-4DC3-4B32-A505-AAF4D58FDEA9}" presName="vert0" presStyleCnt="0">
        <dgm:presLayoutVars>
          <dgm:dir/>
          <dgm:animOne val="branch"/>
          <dgm:animLvl val="lvl"/>
        </dgm:presLayoutVars>
      </dgm:prSet>
      <dgm:spPr/>
    </dgm:pt>
    <dgm:pt modelId="{64ED67DA-8E39-6948-B051-40D58D214192}" type="pres">
      <dgm:prSet presAssocID="{C6D3DEA1-73D5-495D-A144-59AD2E90225B}" presName="thickLine" presStyleLbl="alignNode1" presStyleIdx="0" presStyleCnt="7"/>
      <dgm:spPr/>
    </dgm:pt>
    <dgm:pt modelId="{04728511-6D56-6144-B9B4-CDC964E9861B}" type="pres">
      <dgm:prSet presAssocID="{C6D3DEA1-73D5-495D-A144-59AD2E90225B}" presName="horz1" presStyleCnt="0"/>
      <dgm:spPr/>
    </dgm:pt>
    <dgm:pt modelId="{91B94E12-2D35-8643-BF59-184D23CB5921}" type="pres">
      <dgm:prSet presAssocID="{C6D3DEA1-73D5-495D-A144-59AD2E90225B}" presName="tx1" presStyleLbl="revTx" presStyleIdx="0" presStyleCnt="7"/>
      <dgm:spPr/>
    </dgm:pt>
    <dgm:pt modelId="{698B0837-20BE-9D40-B63D-45AE11D921AF}" type="pres">
      <dgm:prSet presAssocID="{C6D3DEA1-73D5-495D-A144-59AD2E90225B}" presName="vert1" presStyleCnt="0"/>
      <dgm:spPr/>
    </dgm:pt>
    <dgm:pt modelId="{9A0F9C9C-2B34-154C-9E51-D02B54803BBC}" type="pres">
      <dgm:prSet presAssocID="{4B20742F-01B5-4D0A-88BB-17FAFC75D3A6}" presName="thickLine" presStyleLbl="alignNode1" presStyleIdx="1" presStyleCnt="7"/>
      <dgm:spPr/>
    </dgm:pt>
    <dgm:pt modelId="{C10CC9BA-CE2D-1A47-ADD3-9645462BDA01}" type="pres">
      <dgm:prSet presAssocID="{4B20742F-01B5-4D0A-88BB-17FAFC75D3A6}" presName="horz1" presStyleCnt="0"/>
      <dgm:spPr/>
    </dgm:pt>
    <dgm:pt modelId="{6E3856B3-F6A8-DA4E-8094-8015CC24BE57}" type="pres">
      <dgm:prSet presAssocID="{4B20742F-01B5-4D0A-88BB-17FAFC75D3A6}" presName="tx1" presStyleLbl="revTx" presStyleIdx="1" presStyleCnt="7"/>
      <dgm:spPr/>
    </dgm:pt>
    <dgm:pt modelId="{B76B070C-ED09-D747-A199-4DB882DD4D4A}" type="pres">
      <dgm:prSet presAssocID="{4B20742F-01B5-4D0A-88BB-17FAFC75D3A6}" presName="vert1" presStyleCnt="0"/>
      <dgm:spPr/>
    </dgm:pt>
    <dgm:pt modelId="{2D7FE41B-2109-1B46-8CC0-A01C5B28DB94}" type="pres">
      <dgm:prSet presAssocID="{A88744AB-79CB-4C2E-84A7-E0CE2B123F40}" presName="thickLine" presStyleLbl="alignNode1" presStyleIdx="2" presStyleCnt="7"/>
      <dgm:spPr/>
    </dgm:pt>
    <dgm:pt modelId="{862DC406-8BA1-1E49-9DD6-4ECD8D48CAF4}" type="pres">
      <dgm:prSet presAssocID="{A88744AB-79CB-4C2E-84A7-E0CE2B123F40}" presName="horz1" presStyleCnt="0"/>
      <dgm:spPr/>
    </dgm:pt>
    <dgm:pt modelId="{4B9DBD09-A8AC-1D4E-BCBE-32C2BA0B6585}" type="pres">
      <dgm:prSet presAssocID="{A88744AB-79CB-4C2E-84A7-E0CE2B123F40}" presName="tx1" presStyleLbl="revTx" presStyleIdx="2" presStyleCnt="7"/>
      <dgm:spPr/>
    </dgm:pt>
    <dgm:pt modelId="{4E6E4A30-1839-2A4F-9E5C-AF9723B764E0}" type="pres">
      <dgm:prSet presAssocID="{A88744AB-79CB-4C2E-84A7-E0CE2B123F40}" presName="vert1" presStyleCnt="0"/>
      <dgm:spPr/>
    </dgm:pt>
    <dgm:pt modelId="{3951770D-1543-5240-98EA-D5D7C9B2A9ED}" type="pres">
      <dgm:prSet presAssocID="{394BE63C-B8FB-4F48-82C1-E5898A1213ED}" presName="thickLine" presStyleLbl="alignNode1" presStyleIdx="3" presStyleCnt="7"/>
      <dgm:spPr/>
    </dgm:pt>
    <dgm:pt modelId="{46CA13C3-ECE2-DA48-A9F4-03D25C4DCE5E}" type="pres">
      <dgm:prSet presAssocID="{394BE63C-B8FB-4F48-82C1-E5898A1213ED}" presName="horz1" presStyleCnt="0"/>
      <dgm:spPr/>
    </dgm:pt>
    <dgm:pt modelId="{FBD48195-8A96-9A46-B3D0-53B13AB1A7C8}" type="pres">
      <dgm:prSet presAssocID="{394BE63C-B8FB-4F48-82C1-E5898A1213ED}" presName="tx1" presStyleLbl="revTx" presStyleIdx="3" presStyleCnt="7"/>
      <dgm:spPr/>
    </dgm:pt>
    <dgm:pt modelId="{185EBF6D-FB45-794B-8977-92D5A49CC9F1}" type="pres">
      <dgm:prSet presAssocID="{394BE63C-B8FB-4F48-82C1-E5898A1213ED}" presName="vert1" presStyleCnt="0"/>
      <dgm:spPr/>
    </dgm:pt>
    <dgm:pt modelId="{032897E5-A488-4648-865A-46A9E05860AF}" type="pres">
      <dgm:prSet presAssocID="{1D38FCBF-A466-409B-96D7-97AE9AEEDAEC}" presName="thickLine" presStyleLbl="alignNode1" presStyleIdx="4" presStyleCnt="7"/>
      <dgm:spPr/>
    </dgm:pt>
    <dgm:pt modelId="{6960D3A1-4108-B14A-9DDB-04FCCE35131C}" type="pres">
      <dgm:prSet presAssocID="{1D38FCBF-A466-409B-96D7-97AE9AEEDAEC}" presName="horz1" presStyleCnt="0"/>
      <dgm:spPr/>
    </dgm:pt>
    <dgm:pt modelId="{D06797CB-B4A9-7F42-B13C-C614E20633CC}" type="pres">
      <dgm:prSet presAssocID="{1D38FCBF-A466-409B-96D7-97AE9AEEDAEC}" presName="tx1" presStyleLbl="revTx" presStyleIdx="4" presStyleCnt="7"/>
      <dgm:spPr/>
    </dgm:pt>
    <dgm:pt modelId="{8DA70B89-E452-E446-BDBE-E305ED541D5B}" type="pres">
      <dgm:prSet presAssocID="{1D38FCBF-A466-409B-96D7-97AE9AEEDAEC}" presName="vert1" presStyleCnt="0"/>
      <dgm:spPr/>
    </dgm:pt>
    <dgm:pt modelId="{579E1FDA-DA69-9242-9480-94B8F2A13433}" type="pres">
      <dgm:prSet presAssocID="{6CEA6F9A-F3AF-4099-8206-6D7EA668B688}" presName="thickLine" presStyleLbl="alignNode1" presStyleIdx="5" presStyleCnt="7"/>
      <dgm:spPr/>
    </dgm:pt>
    <dgm:pt modelId="{619AC504-8931-564E-9C84-A9B0F526AF49}" type="pres">
      <dgm:prSet presAssocID="{6CEA6F9A-F3AF-4099-8206-6D7EA668B688}" presName="horz1" presStyleCnt="0"/>
      <dgm:spPr/>
    </dgm:pt>
    <dgm:pt modelId="{EAE00F93-A260-1B41-AFEE-5C3457812AF1}" type="pres">
      <dgm:prSet presAssocID="{6CEA6F9A-F3AF-4099-8206-6D7EA668B688}" presName="tx1" presStyleLbl="revTx" presStyleIdx="5" presStyleCnt="7"/>
      <dgm:spPr/>
    </dgm:pt>
    <dgm:pt modelId="{EA9CBF7A-3950-6C4A-BE92-EE918F6EAFC7}" type="pres">
      <dgm:prSet presAssocID="{6CEA6F9A-F3AF-4099-8206-6D7EA668B688}" presName="vert1" presStyleCnt="0"/>
      <dgm:spPr/>
    </dgm:pt>
    <dgm:pt modelId="{D4A2EE64-AF9B-8A43-8070-1163C1FA12F5}" type="pres">
      <dgm:prSet presAssocID="{5DA63061-2CDF-47CC-8C2E-B64832AB5150}" presName="thickLine" presStyleLbl="alignNode1" presStyleIdx="6" presStyleCnt="7"/>
      <dgm:spPr/>
    </dgm:pt>
    <dgm:pt modelId="{CB7DF7DC-C1D3-2D40-A74F-E72224EDD1F5}" type="pres">
      <dgm:prSet presAssocID="{5DA63061-2CDF-47CC-8C2E-B64832AB5150}" presName="horz1" presStyleCnt="0"/>
      <dgm:spPr/>
    </dgm:pt>
    <dgm:pt modelId="{6500423B-D54D-1743-9A8D-4D5817E01142}" type="pres">
      <dgm:prSet presAssocID="{5DA63061-2CDF-47CC-8C2E-B64832AB5150}" presName="tx1" presStyleLbl="revTx" presStyleIdx="6" presStyleCnt="7"/>
      <dgm:spPr/>
    </dgm:pt>
    <dgm:pt modelId="{E55144EA-E77E-8144-8CFE-3AA3D735411E}" type="pres">
      <dgm:prSet presAssocID="{5DA63061-2CDF-47CC-8C2E-B64832AB5150}" presName="vert1" presStyleCnt="0"/>
      <dgm:spPr/>
    </dgm:pt>
  </dgm:ptLst>
  <dgm:cxnLst>
    <dgm:cxn modelId="{8F2D6703-695E-C646-836E-5AE1B9F0F0AC}" type="presOf" srcId="{4B20742F-01B5-4D0A-88BB-17FAFC75D3A6}" destId="{6E3856B3-F6A8-DA4E-8094-8015CC24BE57}" srcOrd="0" destOrd="0" presId="urn:microsoft.com/office/officeart/2008/layout/LinedList"/>
    <dgm:cxn modelId="{558BF803-BBB8-47A0-B4EA-93EB93FB9C81}" srcId="{4FE785D9-4DC3-4B32-A505-AAF4D58FDEA9}" destId="{394BE63C-B8FB-4F48-82C1-E5898A1213ED}" srcOrd="3" destOrd="0" parTransId="{A8EFFDFA-7CBA-4715-A995-EC263EFAD22C}" sibTransId="{58AB73DE-91CC-41BC-9404-F39F3CD498BC}"/>
    <dgm:cxn modelId="{33F83306-457C-42AA-8125-F8A89AFE37A9}" srcId="{4FE785D9-4DC3-4B32-A505-AAF4D58FDEA9}" destId="{4B20742F-01B5-4D0A-88BB-17FAFC75D3A6}" srcOrd="1" destOrd="0" parTransId="{8C608387-9DB2-4AD7-928D-E1EE458CD5DA}" sibTransId="{378A982C-8CBD-4916-8C46-CD40AE717295}"/>
    <dgm:cxn modelId="{05548107-78AB-48B2-8254-99942B30B3FB}" srcId="{4FE785D9-4DC3-4B32-A505-AAF4D58FDEA9}" destId="{6CEA6F9A-F3AF-4099-8206-6D7EA668B688}" srcOrd="5" destOrd="0" parTransId="{3A042E2D-7FBA-4B7A-8F64-D4B63A63F38A}" sibTransId="{F21A3D15-3C92-4943-889E-8AEA0244242D}"/>
    <dgm:cxn modelId="{E9917C10-559A-4959-ACC6-1C888634A71D}" srcId="{4FE785D9-4DC3-4B32-A505-AAF4D58FDEA9}" destId="{A88744AB-79CB-4C2E-84A7-E0CE2B123F40}" srcOrd="2" destOrd="0" parTransId="{7A2F9E1D-BE91-47ED-96A9-C070E81D5883}" sibTransId="{D6C401BB-1614-45A7-ABAB-8ABA8D950606}"/>
    <dgm:cxn modelId="{80C39F10-3FB8-3E42-8171-195D0042A03F}" type="presOf" srcId="{394BE63C-B8FB-4F48-82C1-E5898A1213ED}" destId="{FBD48195-8A96-9A46-B3D0-53B13AB1A7C8}" srcOrd="0" destOrd="0" presId="urn:microsoft.com/office/officeart/2008/layout/LinedList"/>
    <dgm:cxn modelId="{80586B7A-37F6-4F14-9D4F-FC160074FF26}" srcId="{4FE785D9-4DC3-4B32-A505-AAF4D58FDEA9}" destId="{1D38FCBF-A466-409B-96D7-97AE9AEEDAEC}" srcOrd="4" destOrd="0" parTransId="{3AC2A55D-3895-4E61-91A3-FBFC93ED73E3}" sibTransId="{228ECA5D-8CCB-4A84-B1F1-D048591549F3}"/>
    <dgm:cxn modelId="{D285527C-D048-E244-90A0-9E0675AA588A}" type="presOf" srcId="{6CEA6F9A-F3AF-4099-8206-6D7EA668B688}" destId="{EAE00F93-A260-1B41-AFEE-5C3457812AF1}" srcOrd="0" destOrd="0" presId="urn:microsoft.com/office/officeart/2008/layout/LinedList"/>
    <dgm:cxn modelId="{3010F09D-84B6-B947-AB85-D8D4739A2537}" type="presOf" srcId="{C6D3DEA1-73D5-495D-A144-59AD2E90225B}" destId="{91B94E12-2D35-8643-BF59-184D23CB5921}" srcOrd="0" destOrd="0" presId="urn:microsoft.com/office/officeart/2008/layout/LinedList"/>
    <dgm:cxn modelId="{11AD59C5-30ED-F54C-87EB-B7E0B05444FC}" type="presOf" srcId="{5DA63061-2CDF-47CC-8C2E-B64832AB5150}" destId="{6500423B-D54D-1743-9A8D-4D5817E01142}" srcOrd="0" destOrd="0" presId="urn:microsoft.com/office/officeart/2008/layout/LinedList"/>
    <dgm:cxn modelId="{F0732ED4-C9A7-EB42-9AC6-6E0FED007CBE}" type="presOf" srcId="{A88744AB-79CB-4C2E-84A7-E0CE2B123F40}" destId="{4B9DBD09-A8AC-1D4E-BCBE-32C2BA0B6585}" srcOrd="0" destOrd="0" presId="urn:microsoft.com/office/officeart/2008/layout/LinedList"/>
    <dgm:cxn modelId="{9DB273E3-CDDF-4717-8658-E3169E3E1FB2}" srcId="{4FE785D9-4DC3-4B32-A505-AAF4D58FDEA9}" destId="{5DA63061-2CDF-47CC-8C2E-B64832AB5150}" srcOrd="6" destOrd="0" parTransId="{C3DE6FB2-7993-4315-BA3A-30BC18AB82F5}" sibTransId="{D64268F2-FD3A-47D9-932D-E2A4C9EE8004}"/>
    <dgm:cxn modelId="{87E3E6E9-AB78-A847-A2C1-F2A3A3123E1F}" type="presOf" srcId="{1D38FCBF-A466-409B-96D7-97AE9AEEDAEC}" destId="{D06797CB-B4A9-7F42-B13C-C614E20633CC}" srcOrd="0" destOrd="0" presId="urn:microsoft.com/office/officeart/2008/layout/LinedList"/>
    <dgm:cxn modelId="{771EC3F2-EC83-AA46-A637-32FBC5F835E1}" type="presOf" srcId="{4FE785D9-4DC3-4B32-A505-AAF4D58FDEA9}" destId="{F30DB7A0-27AC-F340-BB91-B050DD58F85F}" srcOrd="0" destOrd="0" presId="urn:microsoft.com/office/officeart/2008/layout/LinedList"/>
    <dgm:cxn modelId="{D47468F6-44B1-4FD7-B353-43345A8D8475}" srcId="{4FE785D9-4DC3-4B32-A505-AAF4D58FDEA9}" destId="{C6D3DEA1-73D5-495D-A144-59AD2E90225B}" srcOrd="0" destOrd="0" parTransId="{29D2F27C-1E39-48E0-9B53-6F51A435B0F6}" sibTransId="{5783270A-11D6-442F-A555-01CBFDDA089D}"/>
    <dgm:cxn modelId="{4AE8BC8E-B926-0B49-AC66-F20E6A239F32}" type="presParOf" srcId="{F30DB7A0-27AC-F340-BB91-B050DD58F85F}" destId="{64ED67DA-8E39-6948-B051-40D58D214192}" srcOrd="0" destOrd="0" presId="urn:microsoft.com/office/officeart/2008/layout/LinedList"/>
    <dgm:cxn modelId="{1E0B73A0-ADB7-5749-A506-A44C16FEEF89}" type="presParOf" srcId="{F30DB7A0-27AC-F340-BB91-B050DD58F85F}" destId="{04728511-6D56-6144-B9B4-CDC964E9861B}" srcOrd="1" destOrd="0" presId="urn:microsoft.com/office/officeart/2008/layout/LinedList"/>
    <dgm:cxn modelId="{8D06F1C6-68B6-CE40-B815-564249B8E587}" type="presParOf" srcId="{04728511-6D56-6144-B9B4-CDC964E9861B}" destId="{91B94E12-2D35-8643-BF59-184D23CB5921}" srcOrd="0" destOrd="0" presId="urn:microsoft.com/office/officeart/2008/layout/LinedList"/>
    <dgm:cxn modelId="{254D6ED2-9CAD-0242-A09C-AD281D401D3C}" type="presParOf" srcId="{04728511-6D56-6144-B9B4-CDC964E9861B}" destId="{698B0837-20BE-9D40-B63D-45AE11D921AF}" srcOrd="1" destOrd="0" presId="urn:microsoft.com/office/officeart/2008/layout/LinedList"/>
    <dgm:cxn modelId="{84C8E06D-EF01-C144-9FED-4D0043B7DD42}" type="presParOf" srcId="{F30DB7A0-27AC-F340-BB91-B050DD58F85F}" destId="{9A0F9C9C-2B34-154C-9E51-D02B54803BBC}" srcOrd="2" destOrd="0" presId="urn:microsoft.com/office/officeart/2008/layout/LinedList"/>
    <dgm:cxn modelId="{9ABFCB84-715B-794B-A211-F357EAEBF05B}" type="presParOf" srcId="{F30DB7A0-27AC-F340-BB91-B050DD58F85F}" destId="{C10CC9BA-CE2D-1A47-ADD3-9645462BDA01}" srcOrd="3" destOrd="0" presId="urn:microsoft.com/office/officeart/2008/layout/LinedList"/>
    <dgm:cxn modelId="{A54EAB49-6751-614D-9256-3461E96DE732}" type="presParOf" srcId="{C10CC9BA-CE2D-1A47-ADD3-9645462BDA01}" destId="{6E3856B3-F6A8-DA4E-8094-8015CC24BE57}" srcOrd="0" destOrd="0" presId="urn:microsoft.com/office/officeart/2008/layout/LinedList"/>
    <dgm:cxn modelId="{96DA4B21-5521-6C4D-889E-7D4D6324B851}" type="presParOf" srcId="{C10CC9BA-CE2D-1A47-ADD3-9645462BDA01}" destId="{B76B070C-ED09-D747-A199-4DB882DD4D4A}" srcOrd="1" destOrd="0" presId="urn:microsoft.com/office/officeart/2008/layout/LinedList"/>
    <dgm:cxn modelId="{09DF50CB-FF47-C64F-907E-D2B9579142AE}" type="presParOf" srcId="{F30DB7A0-27AC-F340-BB91-B050DD58F85F}" destId="{2D7FE41B-2109-1B46-8CC0-A01C5B28DB94}" srcOrd="4" destOrd="0" presId="urn:microsoft.com/office/officeart/2008/layout/LinedList"/>
    <dgm:cxn modelId="{B6A6E668-78C9-C845-81F9-39E803B8C818}" type="presParOf" srcId="{F30DB7A0-27AC-F340-BB91-B050DD58F85F}" destId="{862DC406-8BA1-1E49-9DD6-4ECD8D48CAF4}" srcOrd="5" destOrd="0" presId="urn:microsoft.com/office/officeart/2008/layout/LinedList"/>
    <dgm:cxn modelId="{1301612A-8F8E-0843-96C2-D5CF765F83E7}" type="presParOf" srcId="{862DC406-8BA1-1E49-9DD6-4ECD8D48CAF4}" destId="{4B9DBD09-A8AC-1D4E-BCBE-32C2BA0B6585}" srcOrd="0" destOrd="0" presId="urn:microsoft.com/office/officeart/2008/layout/LinedList"/>
    <dgm:cxn modelId="{C43E3A83-A7CA-2D44-A947-B76A5D8F8D31}" type="presParOf" srcId="{862DC406-8BA1-1E49-9DD6-4ECD8D48CAF4}" destId="{4E6E4A30-1839-2A4F-9E5C-AF9723B764E0}" srcOrd="1" destOrd="0" presId="urn:microsoft.com/office/officeart/2008/layout/LinedList"/>
    <dgm:cxn modelId="{5E0F44A0-3D6D-6243-AEEB-C7163E5AE54D}" type="presParOf" srcId="{F30DB7A0-27AC-F340-BB91-B050DD58F85F}" destId="{3951770D-1543-5240-98EA-D5D7C9B2A9ED}" srcOrd="6" destOrd="0" presId="urn:microsoft.com/office/officeart/2008/layout/LinedList"/>
    <dgm:cxn modelId="{59508C7C-FED6-134C-BD92-A03E00D83B7D}" type="presParOf" srcId="{F30DB7A0-27AC-F340-BB91-B050DD58F85F}" destId="{46CA13C3-ECE2-DA48-A9F4-03D25C4DCE5E}" srcOrd="7" destOrd="0" presId="urn:microsoft.com/office/officeart/2008/layout/LinedList"/>
    <dgm:cxn modelId="{8C18AFFB-B016-2B47-9082-0722193D2324}" type="presParOf" srcId="{46CA13C3-ECE2-DA48-A9F4-03D25C4DCE5E}" destId="{FBD48195-8A96-9A46-B3D0-53B13AB1A7C8}" srcOrd="0" destOrd="0" presId="urn:microsoft.com/office/officeart/2008/layout/LinedList"/>
    <dgm:cxn modelId="{24E9DE2A-EC58-E448-9485-502534988129}" type="presParOf" srcId="{46CA13C3-ECE2-DA48-A9F4-03D25C4DCE5E}" destId="{185EBF6D-FB45-794B-8977-92D5A49CC9F1}" srcOrd="1" destOrd="0" presId="urn:microsoft.com/office/officeart/2008/layout/LinedList"/>
    <dgm:cxn modelId="{0F7C7855-73D0-274E-A741-4033FD1546F8}" type="presParOf" srcId="{F30DB7A0-27AC-F340-BB91-B050DD58F85F}" destId="{032897E5-A488-4648-865A-46A9E05860AF}" srcOrd="8" destOrd="0" presId="urn:microsoft.com/office/officeart/2008/layout/LinedList"/>
    <dgm:cxn modelId="{E02C3114-FA0C-704D-A76B-B86E60104AB6}" type="presParOf" srcId="{F30DB7A0-27AC-F340-BB91-B050DD58F85F}" destId="{6960D3A1-4108-B14A-9DDB-04FCCE35131C}" srcOrd="9" destOrd="0" presId="urn:microsoft.com/office/officeart/2008/layout/LinedList"/>
    <dgm:cxn modelId="{3F50856E-8F68-A04A-995B-4EE98F463ACA}" type="presParOf" srcId="{6960D3A1-4108-B14A-9DDB-04FCCE35131C}" destId="{D06797CB-B4A9-7F42-B13C-C614E20633CC}" srcOrd="0" destOrd="0" presId="urn:microsoft.com/office/officeart/2008/layout/LinedList"/>
    <dgm:cxn modelId="{98537AE7-8528-3A49-B0FC-01EAE8DB9814}" type="presParOf" srcId="{6960D3A1-4108-B14A-9DDB-04FCCE35131C}" destId="{8DA70B89-E452-E446-BDBE-E305ED541D5B}" srcOrd="1" destOrd="0" presId="urn:microsoft.com/office/officeart/2008/layout/LinedList"/>
    <dgm:cxn modelId="{54262F45-BAF1-2047-9E21-C39BCEDE9E53}" type="presParOf" srcId="{F30DB7A0-27AC-F340-BB91-B050DD58F85F}" destId="{579E1FDA-DA69-9242-9480-94B8F2A13433}" srcOrd="10" destOrd="0" presId="urn:microsoft.com/office/officeart/2008/layout/LinedList"/>
    <dgm:cxn modelId="{42E84D2F-BEAC-1C49-8418-F6A53164AA06}" type="presParOf" srcId="{F30DB7A0-27AC-F340-BB91-B050DD58F85F}" destId="{619AC504-8931-564E-9C84-A9B0F526AF49}" srcOrd="11" destOrd="0" presId="urn:microsoft.com/office/officeart/2008/layout/LinedList"/>
    <dgm:cxn modelId="{C08F817C-1218-8F48-BAB7-121B938CC23C}" type="presParOf" srcId="{619AC504-8931-564E-9C84-A9B0F526AF49}" destId="{EAE00F93-A260-1B41-AFEE-5C3457812AF1}" srcOrd="0" destOrd="0" presId="urn:microsoft.com/office/officeart/2008/layout/LinedList"/>
    <dgm:cxn modelId="{8E3A35E4-47D1-3447-B271-F36D20516607}" type="presParOf" srcId="{619AC504-8931-564E-9C84-A9B0F526AF49}" destId="{EA9CBF7A-3950-6C4A-BE92-EE918F6EAFC7}" srcOrd="1" destOrd="0" presId="urn:microsoft.com/office/officeart/2008/layout/LinedList"/>
    <dgm:cxn modelId="{46AAF96A-8523-1F44-9E54-B6BB8E4DF2EE}" type="presParOf" srcId="{F30DB7A0-27AC-F340-BB91-B050DD58F85F}" destId="{D4A2EE64-AF9B-8A43-8070-1163C1FA12F5}" srcOrd="12" destOrd="0" presId="urn:microsoft.com/office/officeart/2008/layout/LinedList"/>
    <dgm:cxn modelId="{E561B542-B53C-F74E-8096-C1441E59A16F}" type="presParOf" srcId="{F30DB7A0-27AC-F340-BB91-B050DD58F85F}" destId="{CB7DF7DC-C1D3-2D40-A74F-E72224EDD1F5}" srcOrd="13" destOrd="0" presId="urn:microsoft.com/office/officeart/2008/layout/LinedList"/>
    <dgm:cxn modelId="{25A1DEB9-4A67-AB48-80E6-27DF9BC328F1}" type="presParOf" srcId="{CB7DF7DC-C1D3-2D40-A74F-E72224EDD1F5}" destId="{6500423B-D54D-1743-9A8D-4D5817E01142}" srcOrd="0" destOrd="0" presId="urn:microsoft.com/office/officeart/2008/layout/LinedList"/>
    <dgm:cxn modelId="{E42F72F4-3FCB-064B-8C1A-8E1C2F606784}" type="presParOf" srcId="{CB7DF7DC-C1D3-2D40-A74F-E72224EDD1F5}" destId="{E55144EA-E77E-8144-8CFE-3AA3D73541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ED67DA-8E39-6948-B051-40D58D214192}">
      <dsp:nvSpPr>
        <dsp:cNvPr id="0" name=""/>
        <dsp:cNvSpPr/>
      </dsp:nvSpPr>
      <dsp:spPr>
        <a:xfrm>
          <a:off x="0" y="512"/>
          <a:ext cx="95744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94E12-2D35-8643-BF59-184D23CB5921}">
      <dsp:nvSpPr>
        <dsp:cNvPr id="0" name=""/>
        <dsp:cNvSpPr/>
      </dsp:nvSpPr>
      <dsp:spPr>
        <a:xfrm>
          <a:off x="0" y="512"/>
          <a:ext cx="9574437" cy="59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Frameworks are models, not reality</a:t>
          </a:r>
        </a:p>
      </dsp:txBody>
      <dsp:txXfrm>
        <a:off x="0" y="512"/>
        <a:ext cx="9574437" cy="599248"/>
      </dsp:txXfrm>
    </dsp:sp>
    <dsp:sp modelId="{9A0F9C9C-2B34-154C-9E51-D02B54803BBC}">
      <dsp:nvSpPr>
        <dsp:cNvPr id="0" name=""/>
        <dsp:cNvSpPr/>
      </dsp:nvSpPr>
      <dsp:spPr>
        <a:xfrm>
          <a:off x="0" y="599760"/>
          <a:ext cx="95744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3856B3-F6A8-DA4E-8094-8015CC24BE57}">
      <dsp:nvSpPr>
        <dsp:cNvPr id="0" name=""/>
        <dsp:cNvSpPr/>
      </dsp:nvSpPr>
      <dsp:spPr>
        <a:xfrm>
          <a:off x="0" y="599760"/>
          <a:ext cx="9574437" cy="59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Models emphasize and omit</a:t>
          </a:r>
        </a:p>
      </dsp:txBody>
      <dsp:txXfrm>
        <a:off x="0" y="599760"/>
        <a:ext cx="9574437" cy="599248"/>
      </dsp:txXfrm>
    </dsp:sp>
    <dsp:sp modelId="{2D7FE41B-2109-1B46-8CC0-A01C5B28DB94}">
      <dsp:nvSpPr>
        <dsp:cNvPr id="0" name=""/>
        <dsp:cNvSpPr/>
      </dsp:nvSpPr>
      <dsp:spPr>
        <a:xfrm>
          <a:off x="0" y="1199008"/>
          <a:ext cx="95744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DBD09-A8AC-1D4E-BCBE-32C2BA0B6585}">
      <dsp:nvSpPr>
        <dsp:cNvPr id="0" name=""/>
        <dsp:cNvSpPr/>
      </dsp:nvSpPr>
      <dsp:spPr>
        <a:xfrm>
          <a:off x="0" y="1199008"/>
          <a:ext cx="9574437" cy="59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Different models → different conclusions</a:t>
          </a:r>
        </a:p>
      </dsp:txBody>
      <dsp:txXfrm>
        <a:off x="0" y="1199008"/>
        <a:ext cx="9574437" cy="599248"/>
      </dsp:txXfrm>
    </dsp:sp>
    <dsp:sp modelId="{3951770D-1543-5240-98EA-D5D7C9B2A9ED}">
      <dsp:nvSpPr>
        <dsp:cNvPr id="0" name=""/>
        <dsp:cNvSpPr/>
      </dsp:nvSpPr>
      <dsp:spPr>
        <a:xfrm>
          <a:off x="0" y="1798257"/>
          <a:ext cx="95744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48195-8A96-9A46-B3D0-53B13AB1A7C8}">
      <dsp:nvSpPr>
        <dsp:cNvPr id="0" name=""/>
        <dsp:cNvSpPr/>
      </dsp:nvSpPr>
      <dsp:spPr>
        <a:xfrm>
          <a:off x="0" y="1798257"/>
          <a:ext cx="9574437" cy="59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Disagreement is structural, not mistaken</a:t>
          </a:r>
        </a:p>
      </dsp:txBody>
      <dsp:txXfrm>
        <a:off x="0" y="1798257"/>
        <a:ext cx="9574437" cy="599248"/>
      </dsp:txXfrm>
    </dsp:sp>
    <dsp:sp modelId="{032897E5-A488-4648-865A-46A9E05860AF}">
      <dsp:nvSpPr>
        <dsp:cNvPr id="0" name=""/>
        <dsp:cNvSpPr/>
      </dsp:nvSpPr>
      <dsp:spPr>
        <a:xfrm>
          <a:off x="0" y="2397505"/>
          <a:ext cx="95744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797CB-B4A9-7F42-B13C-C614E20633CC}">
      <dsp:nvSpPr>
        <dsp:cNvPr id="0" name=""/>
        <dsp:cNvSpPr/>
      </dsp:nvSpPr>
      <dsp:spPr>
        <a:xfrm>
          <a:off x="0" y="2397505"/>
          <a:ext cx="9574437" cy="59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Framework choice is the decision</a:t>
          </a:r>
        </a:p>
      </dsp:txBody>
      <dsp:txXfrm>
        <a:off x="0" y="2397505"/>
        <a:ext cx="9574437" cy="599248"/>
      </dsp:txXfrm>
    </dsp:sp>
    <dsp:sp modelId="{579E1FDA-DA69-9242-9480-94B8F2A13433}">
      <dsp:nvSpPr>
        <dsp:cNvPr id="0" name=""/>
        <dsp:cNvSpPr/>
      </dsp:nvSpPr>
      <dsp:spPr>
        <a:xfrm>
          <a:off x="0" y="2996754"/>
          <a:ext cx="95744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00F93-A260-1B41-AFEE-5C3457812AF1}">
      <dsp:nvSpPr>
        <dsp:cNvPr id="0" name=""/>
        <dsp:cNvSpPr/>
      </dsp:nvSpPr>
      <dsp:spPr>
        <a:xfrm>
          <a:off x="0" y="2996754"/>
          <a:ext cx="9574437" cy="59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 framework can justify itself</a:t>
          </a:r>
        </a:p>
      </dsp:txBody>
      <dsp:txXfrm>
        <a:off x="0" y="2996754"/>
        <a:ext cx="9574437" cy="599248"/>
      </dsp:txXfrm>
    </dsp:sp>
    <dsp:sp modelId="{D4A2EE64-AF9B-8A43-8070-1163C1FA12F5}">
      <dsp:nvSpPr>
        <dsp:cNvPr id="0" name=""/>
        <dsp:cNvSpPr/>
      </dsp:nvSpPr>
      <dsp:spPr>
        <a:xfrm>
          <a:off x="0" y="3596002"/>
          <a:ext cx="957443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0423B-D54D-1743-9A8D-4D5817E01142}">
      <dsp:nvSpPr>
        <dsp:cNvPr id="0" name=""/>
        <dsp:cNvSpPr/>
      </dsp:nvSpPr>
      <dsp:spPr>
        <a:xfrm>
          <a:off x="0" y="3596002"/>
          <a:ext cx="9574437" cy="599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Comparison requires a meta‑framework</a:t>
          </a:r>
        </a:p>
      </dsp:txBody>
      <dsp:txXfrm>
        <a:off x="0" y="3596002"/>
        <a:ext cx="9574437" cy="5992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45A8A-8E6D-4663-080E-D03389821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AEC59-7847-549D-C77A-5A14ECC17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B5566-8009-BF43-A7E2-BB91ECDE9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going to take the education adventure together. We are going to </a:t>
            </a:r>
            <a:r>
              <a:rPr lang="en-US" dirty="0" err="1"/>
              <a:t>marco</a:t>
            </a:r>
            <a:r>
              <a:rPr lang="en-US" dirty="0"/>
              <a:t>, and go micro, and we are going to see why MU is the right place for you. Lets begin.</a:t>
            </a:r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6A2E0-9F52-A815-1A8C-B6AEC432A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3326D-44F6-4366-892B-520DCBA404BA}" type="slidenum">
              <a:rPr lang="de-AT" smtClean="0"/>
              <a:t>1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80460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4AC4-88F2-E8F6-5C23-BCDDD123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2D1D3-B5DD-C49D-3C67-E201E96DC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04307-9562-535C-E97C-7A18FF0F5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(Write. Do not discuss yet.)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8A63E-6779-5D90-DF9C-F6622582D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B28D2-8779-5149-AD04-DCB2AEE358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2099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4AC4-88F2-E8F6-5C23-BCDDD123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2D1D3-B5DD-C49D-3C67-E201E96DC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04307-9562-535C-E97C-7A18FF0F5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(Write. Do not discuss yet.)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8A63E-6779-5D90-DF9C-F6622582D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B28D2-8779-5149-AD04-DCB2AEE358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891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4AC4-88F2-E8F6-5C23-BCDDD123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2D1D3-B5DD-C49D-3C67-E201E96DC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04307-9562-535C-E97C-7A18FF0F5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(Write. Do not discuss yet.)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8A63E-6779-5D90-DF9C-F6622582D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B28D2-8779-5149-AD04-DCB2AEE358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039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4AC4-88F2-E8F6-5C23-BCDDD123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2D1D3-B5DD-C49D-3C67-E201E96DC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04307-9562-535C-E97C-7A18FF0F5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(Write. Do not discuss yet.)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8A63E-6779-5D90-DF9C-F6622582D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B28D2-8779-5149-AD04-DCB2AEE358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246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4AC4-88F2-E8F6-5C23-BCDDD123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2D1D3-B5DD-C49D-3C67-E201E96DC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04307-9562-535C-E97C-7A18FF0F5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(Write. Do not discuss yet.)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8A63E-6779-5D90-DF9C-F6622582D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B28D2-8779-5149-AD04-DCB2AEE358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6344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1895-49D2-ABA4-6169-3D4069CC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3B4AC-250E-4527-2D53-E7682898A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2BD49-5C1B-9D10-B049-8919A090B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(Write. Do not discuss yet.)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6B723-0A94-133A-6256-90FD0CFAA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B28D2-8779-5149-AD04-DCB2AEE358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182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4AC4-88F2-E8F6-5C23-BCDDD123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2D1D3-B5DD-C49D-3C67-E201E96DC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04307-9562-535C-E97C-7A18FF0F5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(Write. Do not discuss yet.)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8A63E-6779-5D90-DF9C-F6622582D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B28D2-8779-5149-AD04-DCB2AEE358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1412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1895-49D2-ABA4-6169-3D4069CC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3B4AC-250E-4527-2D53-E7682898A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2BD49-5C1B-9D10-B049-8919A090B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(Write. Do not discuss yet.)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6B723-0A94-133A-6256-90FD0CFAA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5B28D2-8779-5149-AD04-DCB2AEE358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086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Add a source to your Zotero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86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outcomes Source: Utilitarian tradition (Jeremy Bentham, John Stuart Mill) </a:t>
            </a:r>
          </a:p>
          <a:p>
            <a:r>
              <a:rPr lang="en-US" dirty="0"/>
              <a:t>Assessment Mechanism: </a:t>
            </a:r>
          </a:p>
          <a:p>
            <a:r>
              <a:rPr lang="en-US" dirty="0"/>
              <a:t>- Define outcome metrics (types of harm) </a:t>
            </a:r>
          </a:p>
          <a:p>
            <a:r>
              <a:rPr lang="en-US" dirty="0"/>
              <a:t>- Estimate probabilities and magnitudes - Aggregate (sum/expected value) across stakeholders - Sensitivity to weighting assumptions - Check for omitted harms (indirect, long-term, distributional)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AC6B1-B199-0644-8F39-7921A5FC4B5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20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framework is a way 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reality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reality itself.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framework models reality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differently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emphasizing certain factors while excluding others.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 result, different frameworks can produce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evaluations of the same situation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raises a problem: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 we decide which framework is “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best”?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answer that question, we must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outside any single framework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need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higher‑level framework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allows us to compare multiple frameworks.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larger framework must let us evaluate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different models represent, prioritize, and resolve harm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75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outcomes Source: Utilitarian tradition (Jeremy Bentham, John Stuart Mill) </a:t>
            </a:r>
          </a:p>
          <a:p>
            <a:r>
              <a:rPr lang="en-US" dirty="0"/>
              <a:t>Assessment Mechanism: </a:t>
            </a:r>
          </a:p>
          <a:p>
            <a:r>
              <a:rPr lang="en-US" dirty="0"/>
              <a:t>- Define outcome metrics (types of harm) </a:t>
            </a:r>
          </a:p>
          <a:p>
            <a:r>
              <a:rPr lang="en-US" dirty="0"/>
              <a:t>- Estimate probabilities and magnitudes - Aggregate (sum/expected value) across stakeholders - Sensitivity to weighting assumptions - Check for omitted harms (indirect, long-term, distributional)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AC6B1-B199-0644-8F39-7921A5FC4B5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50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outcomes Source: Utilitarian tradition (Jeremy Bentham, John Stuart Mill) </a:t>
            </a:r>
          </a:p>
          <a:p>
            <a:r>
              <a:rPr lang="en-US" dirty="0"/>
              <a:t>Assessment Mechanism: </a:t>
            </a:r>
          </a:p>
          <a:p>
            <a:r>
              <a:rPr lang="en-US" dirty="0"/>
              <a:t>- Define outcome metrics (types of harm) </a:t>
            </a:r>
          </a:p>
          <a:p>
            <a:r>
              <a:rPr lang="en-US" dirty="0"/>
              <a:t>- Estimate probabilities and magnitudes - Aggregate (sum/expected value) across stakeholders - Sensitivity to weighting assumptions - Check for omitted harms (indirect, long-term, distributional)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AC6B1-B199-0644-8F39-7921A5FC4B5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38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outcomes Source: Utilitarian tradition (Jeremy Bentham, John Stuart Mill) </a:t>
            </a:r>
          </a:p>
          <a:p>
            <a:r>
              <a:rPr lang="en-US" dirty="0"/>
              <a:t>Assessment Mechanism: </a:t>
            </a:r>
          </a:p>
          <a:p>
            <a:r>
              <a:rPr lang="en-US" dirty="0"/>
              <a:t>- Define outcome metrics (types of harm) </a:t>
            </a:r>
          </a:p>
          <a:p>
            <a:r>
              <a:rPr lang="en-US" dirty="0"/>
              <a:t>- Estimate probabilities and magnitudes - Aggregate (sum/expected value) across stakeholders - Sensitivity to weighting assumptions - Check for omitted harms (indirect, long-term, distributional)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AC6B1-B199-0644-8F39-7921A5FC4B5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42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outcomes Source: Utilitarian tradition (Jeremy Bentham, John Stuart Mill) </a:t>
            </a:r>
          </a:p>
          <a:p>
            <a:r>
              <a:rPr lang="en-US" dirty="0"/>
              <a:t>Assessment Mechanism: </a:t>
            </a:r>
          </a:p>
          <a:p>
            <a:r>
              <a:rPr lang="en-US" dirty="0"/>
              <a:t>- Define outcome metrics (types of harm) </a:t>
            </a:r>
          </a:p>
          <a:p>
            <a:r>
              <a:rPr lang="en-US" dirty="0"/>
              <a:t>- Estimate probabilities and magnitudes - Aggregate (sum/expected value) across stakeholders - Sensitivity to weighting assumptions - Check for omitted harms (indirect, long-term, distributional)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FAC6B1-B199-0644-8F39-7921A5FC4B5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53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CLOSING, NEXT,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64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Ethics depends on system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909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Apply BBS to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41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Appendix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00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F7BB-A1DF-4BD2-8D5B-CA9EB40127CE}" type="datetime1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591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F7BB-A1DF-4BD2-8D5B-CA9EB40127CE}" type="datetime1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095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F7BB-A1DF-4BD2-8D5B-CA9EB40127CE}" type="datetime1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073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F7BB-A1DF-4BD2-8D5B-CA9EB40127CE}" type="datetime1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815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F7BB-A1DF-4BD2-8D5B-CA9EB40127CE}" type="datetime1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032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B15FB-E45F-4977-9C40-BB6531CE6EA6}" type="datetime1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6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F7BB-A1DF-4BD2-8D5B-CA9EB40127CE}" type="datetime1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863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94988-488B-40CC-9623-27A54F95F7B4}" type="datetime1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54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7011-18F0-49E4-85C9-3E22BE44E3EB}" type="datetime1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8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F7BB-A1DF-4BD2-8D5B-CA9EB40127CE}" type="datetime1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520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F7BB-A1DF-4BD2-8D5B-CA9EB40127CE}" type="datetime1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268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Content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85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0A52C9-A7D6-4EB8-8F3D-1519181DDC1D}" type="datetime1">
              <a:rPr lang="en-US" smtClean="0"/>
              <a:t>3/26/26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20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EA5D59-5512-467D-834D-D04827A6AF83}" type="datetime1">
              <a:rPr lang="en-US" smtClean="0"/>
              <a:pPr/>
              <a:t>3/26/26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BFE899EF-3666-4EAB-A626-E7AA02E66CC1}" type="datetime1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F92EF8E-B9EB-49F8-83E1-F362FA442011}" type="datetime1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9EEDB3-BC19-4021-830F-B822E1DE9789}" type="datetime1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014DD65C-314F-4399-90A8-B6DFCAF21BE4}" type="datetime1">
              <a:rPr lang="en-US" smtClean="0"/>
              <a:t>3/26/26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07A3B59-4DAC-4AFE-874D-3A86EC3801A0}" type="datetime1">
              <a:rPr lang="en-US" smtClean="0"/>
              <a:pPr/>
              <a:t>3/26/26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F1AC263-88EE-42CC-B640-B12BA856CF71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68A32F6A-E7E2-4607-B207-B787B539B854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467FC12-63BB-4A63-9424-BFBF8E1D71D9}" type="datetime1">
              <a:rPr lang="en-US" smtClean="0"/>
              <a:t>3/26/26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892AD61-D199-4B74-B80B-2001400510FA}" type="datetime1">
              <a:rPr lang="en-US" smtClean="0"/>
              <a:t>3/26/26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27C7479B-2077-4468-85E0-F9294B46DEAE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28E9021D-675F-4984-8FE0-04DA4F4E22F1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3/26/26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4049900-C118-46F7-B9EF-5F7C1F0005B2}" type="datetime1">
              <a:rPr lang="en-US" smtClean="0"/>
              <a:t>3/26/26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0B4A3A31-ACEE-4A00-9ED7-D579651BDB0B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D7B7F7-7F90-4F0B-A996-5443656EFF4A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D7B7F7-7F90-4F0B-A996-5443656EFF4A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086C921-50A5-4289-8B96-30101E64A548}" type="datetime1">
              <a:rPr lang="en-US" smtClean="0"/>
              <a:t>3/26/26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B948B66-4D7B-4FF2-9F42-B85226272225}" type="datetime1">
              <a:rPr lang="en-US" smtClean="0"/>
              <a:t>3/26/26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6D1D18D0-7308-42C5-B784-8892F327ABD3}" type="datetime1">
              <a:rPr lang="en-US" smtClean="0"/>
              <a:t>3/26/26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888334B-5C34-4E7E-A4B0-3A19575F6DD8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6C46EC71-0129-40A3-85CE-244216EACC39}" type="datetime1">
              <a:rPr lang="en-US" smtClean="0"/>
              <a:t>3/26/26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888334B-5C34-4E7E-A4B0-3A19575F6DD8}" type="datetime1">
              <a:rPr lang="en-US" smtClean="0"/>
              <a:t>3/26/26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CC8FB4D-92F2-4C28-8BFC-2AE0229C3E9A}" type="datetime1">
              <a:rPr lang="en-US" smtClean="0"/>
              <a:t>3/26/26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7B708C30-1428-4C16-AD49-DE42CFEA37BF}" type="datetime1">
              <a:rPr lang="en-US" smtClean="0"/>
              <a:t>3/26/26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DCE8854E-90F8-4761-A9B8-18B1C5A3D25C}" type="datetime1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DF09C0-6535-4055-81CC-988E059C8EEC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85187EE-7BBC-405E-B3F5-9C3E88970356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A6891D2-C712-4357-A4F9-7362E459A272}" type="datetime1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4566FD-24FB-4338-A35C-D9AE347B4F66}" type="datetime1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2BF1DD-1BF4-406D-9906-B4846BCC8D55}" type="datetime1">
              <a:rPr lang="en-US" smtClean="0"/>
              <a:pPr/>
              <a:t>3/26/26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E9CE581-A048-42A8-B14C-488A3338D2F0}" type="datetime1">
              <a:rPr lang="en-US" smtClean="0"/>
              <a:t>3/26/26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37B15FB-E45F-4977-9C40-BB6531CE6EA6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1D94988-488B-40CC-9623-27A54F95F7B4}" type="datetime1">
              <a:rPr lang="en-US" smtClean="0"/>
              <a:t>3/26/26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A3C7011-18F0-49E4-85C9-3E22BE44E3EB}" type="datetime1">
              <a:rPr lang="en-US" smtClean="0"/>
              <a:t>3/26/26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4F7BB-A1DF-4BD2-8D5B-CA9EB40127CE}" type="datetime1">
              <a:rPr lang="en-US" smtClean="0"/>
              <a:pPr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2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8" r:id="rId1"/>
    <p:sldLayoutId id="2147484229" r:id="rId2"/>
    <p:sldLayoutId id="2147484230" r:id="rId3"/>
    <p:sldLayoutId id="2147484231" r:id="rId4"/>
    <p:sldLayoutId id="2147484232" r:id="rId5"/>
    <p:sldLayoutId id="2147484233" r:id="rId6"/>
    <p:sldLayoutId id="2147484234" r:id="rId7"/>
    <p:sldLayoutId id="2147484235" r:id="rId8"/>
    <p:sldLayoutId id="2147484236" r:id="rId9"/>
    <p:sldLayoutId id="2147484237" r:id="rId10"/>
    <p:sldLayoutId id="2147484238" r:id="rId11"/>
    <p:sldLayoutId id="2147484239" r:id="rId12"/>
    <p:sldLayoutId id="2147484240" r:id="rId13"/>
    <p:sldLayoutId id="2147484119" r:id="rId14"/>
    <p:sldLayoutId id="2147484114" r:id="rId15"/>
    <p:sldLayoutId id="2147484116" r:id="rId16"/>
    <p:sldLayoutId id="2147484117" r:id="rId17"/>
    <p:sldLayoutId id="2147484118" r:id="rId18"/>
    <p:sldLayoutId id="2147484120" r:id="rId19"/>
    <p:sldLayoutId id="2147484121" r:id="rId20"/>
    <p:sldLayoutId id="2147484124" r:id="rId21"/>
    <p:sldLayoutId id="2147484125" r:id="rId22"/>
    <p:sldLayoutId id="2147484126" r:id="rId23"/>
    <p:sldLayoutId id="2147484129" r:id="rId24"/>
    <p:sldLayoutId id="2147484132" r:id="rId25"/>
    <p:sldLayoutId id="2147484133" r:id="rId26"/>
    <p:sldLayoutId id="2147484135" r:id="rId27"/>
    <p:sldLayoutId id="2147484136" r:id="rId28"/>
    <p:sldLayoutId id="2147484138" r:id="rId29"/>
    <p:sldLayoutId id="2147484139" r:id="rId30"/>
    <p:sldLayoutId id="2147484140" r:id="rId31"/>
    <p:sldLayoutId id="2147484141" r:id="rId32"/>
    <p:sldLayoutId id="2147484142" r:id="rId33"/>
    <p:sldLayoutId id="2147484143" r:id="rId34"/>
    <p:sldLayoutId id="2147484144" r:id="rId35"/>
    <p:sldLayoutId id="2147484145" r:id="rId36"/>
    <p:sldLayoutId id="2147484146" r:id="rId37"/>
    <p:sldLayoutId id="2147484147" r:id="rId38"/>
    <p:sldLayoutId id="2147484148" r:id="rId39"/>
    <p:sldLayoutId id="2147484149" r:id="rId40"/>
    <p:sldLayoutId id="2147484150" r:id="rId41"/>
    <p:sldLayoutId id="2147484152" r:id="rId42"/>
    <p:sldLayoutId id="2147484158" r:id="rId43"/>
    <p:sldLayoutId id="2147484159" r:id="rId44"/>
    <p:sldLayoutId id="2147484160" r:id="rId45"/>
    <p:sldLayoutId id="2147484162" r:id="rId46"/>
    <p:sldLayoutId id="2147484163" r:id="rId47"/>
    <p:sldLayoutId id="2147484165" r:id="rId48"/>
    <p:sldLayoutId id="2147484166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771E-42C1-0A3C-494E-C79BD020E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uilding with a tower in the background&#10;&#10;Description automatically generated">
            <a:extLst>
              <a:ext uri="{FF2B5EF4-FFF2-40B4-BE49-F238E27FC236}">
                <a16:creationId xmlns:a16="http://schemas.microsoft.com/office/drawing/2014/main" id="{59CFC2F8-B3FC-6A13-4304-2BE14DA34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4C4A5A-7130-7F0A-2021-267877D4EE4A}"/>
              </a:ext>
            </a:extLst>
          </p:cNvPr>
          <p:cNvSpPr txBox="1"/>
          <p:nvPr/>
        </p:nvSpPr>
        <p:spPr>
          <a:xfrm>
            <a:off x="-3368220" y="2678052"/>
            <a:ext cx="53251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defTabSz="685783">
              <a:defRPr/>
            </a:pPr>
            <a:endParaRPr lang="de-DE" sz="2000" dirty="0">
              <a:latin typeface="Gotham Medium" panose="02000604030000020004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72CF8-4913-7D79-0FC4-28259AAFCFCB}"/>
              </a:ext>
            </a:extLst>
          </p:cNvPr>
          <p:cNvSpPr txBox="1"/>
          <p:nvPr/>
        </p:nvSpPr>
        <p:spPr>
          <a:xfrm>
            <a:off x="649312" y="5467880"/>
            <a:ext cx="2538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100" dirty="0">
                <a:solidFill>
                  <a:srgbClr val="35417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David B. Smith</a:t>
            </a:r>
            <a:endParaRPr lang="en-AT" sz="1400" spc="100" dirty="0">
              <a:solidFill>
                <a:srgbClr val="354174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4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86D5BBF8-5212-4DA6-FA38-591AEBCA4C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380" y="581259"/>
            <a:ext cx="2286003" cy="8572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180595-7540-2B40-4F17-9BDDDDBD9991}"/>
              </a:ext>
            </a:extLst>
          </p:cNvPr>
          <p:cNvSpPr txBox="1"/>
          <p:nvPr/>
        </p:nvSpPr>
        <p:spPr>
          <a:xfrm>
            <a:off x="649311" y="2678052"/>
            <a:ext cx="3345745" cy="36933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defTabSz="685783">
              <a:defRPr/>
            </a:pPr>
            <a:r>
              <a:rPr lang="en-GB" sz="16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SESSION 5</a:t>
            </a:r>
            <a:endParaRPr lang="de-DE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2C8FB-D0CA-5A83-29F5-7FA79E4ABBAA}"/>
              </a:ext>
            </a:extLst>
          </p:cNvPr>
          <p:cNvSpPr txBox="1"/>
          <p:nvPr/>
        </p:nvSpPr>
        <p:spPr>
          <a:xfrm>
            <a:off x="649311" y="839140"/>
            <a:ext cx="231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spc="100" dirty="0">
                <a:solidFill>
                  <a:srgbClr val="35417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MODUL UNIVERSITY VIENNA</a:t>
            </a:r>
            <a:endParaRPr lang="en-AT" sz="1100" spc="100" dirty="0">
              <a:solidFill>
                <a:srgbClr val="354174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" name="Picture 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712B4BA3-BFA3-B213-C883-243595D6F0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371" y="648492"/>
            <a:ext cx="722784" cy="72278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880E5C0-32CD-AED9-F6D6-4EAFCB7697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69988"/>
            <a:ext cx="4922838" cy="1508125"/>
          </a:xfrm>
        </p:spPr>
        <p:txBody>
          <a:bodyPr>
            <a:normAutofit fontScale="90000"/>
          </a:bodyPr>
          <a:lstStyle/>
          <a:p>
            <a:pPr rtl="0" eaLnBrk="1" latinLnBrk="0" hangingPunct="1"/>
            <a:r>
              <a:rPr lang="en-US" sz="3600" b="1" kern="1200" dirty="0">
                <a:solidFill>
                  <a:srgbClr val="354174"/>
                </a:solidFill>
                <a:effectLst/>
                <a:latin typeface="Century Gothic" panose="020B0502020202020204" pitchFamily="34" charset="0"/>
                <a:ea typeface="Verdana" panose="020B0604030504040204" pitchFamily="34" charset="0"/>
                <a:cs typeface="Tahoma" panose="020B0604030504040204" pitchFamily="34" charset="0"/>
              </a:rPr>
              <a:t>SEID 2364: Societal and Ethical Impact of Data Science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B87553-AB45-A2E4-9226-512B99455A71}"/>
              </a:ext>
            </a:extLst>
          </p:cNvPr>
          <p:cNvSpPr txBox="1"/>
          <p:nvPr/>
        </p:nvSpPr>
        <p:spPr>
          <a:xfrm>
            <a:off x="1242824" y="3429000"/>
            <a:ext cx="38895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/>
              <a:t>Balanced Blended Space</a:t>
            </a:r>
          </a:p>
        </p:txBody>
      </p:sp>
    </p:spTree>
    <p:extLst>
      <p:ext uri="{BB962C8B-B14F-4D97-AF65-F5344CB8AC3E}">
        <p14:creationId xmlns:p14="http://schemas.microsoft.com/office/powerpoint/2010/main" val="24634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8521D-A3B4-C8B6-DAF7-7E906D18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66B08-0A03-5BDC-19C8-28429430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Opening Dissections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405EAC-808F-4938-37E0-72FD2725A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Moving from Speculation to Research and Analysis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Use Assignment 4</a:t>
            </a:r>
            <a:br>
              <a:rPr lang="en-US" dirty="0"/>
            </a:br>
            <a:r>
              <a:rPr lang="en-US" dirty="0"/>
              <a:t>Work precisely</a:t>
            </a:r>
            <a:br>
              <a:rPr lang="en-US" dirty="0"/>
            </a:br>
            <a:r>
              <a:rPr lang="en-US" dirty="0"/>
              <a:t>No generalization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64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8521D-A3B4-C8B6-DAF7-7E906D18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66B08-0A03-5BDC-19C8-28429430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Dissection 1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405EAC-808F-4938-37E0-72FD2725A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Using your Assignment 4 case study,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Rewrite your use case as a decision.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Actor → Decision → Target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dirty="0"/>
              <a:t>No new information</a:t>
            </a:r>
            <a:br>
              <a:rPr lang="en-US" dirty="0"/>
            </a:br>
            <a:r>
              <a:rPr lang="en-US" dirty="0"/>
              <a:t>No explanation or judgment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Example: A bank decides whether to approve or deny a loan to an applicant.</a:t>
            </a:r>
            <a:endParaRPr lang="en-US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73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8521D-A3B4-C8B6-DAF7-7E906D18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66B08-0A03-5BDC-19C8-28429430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Dissection 2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F51F0A-F2DD-E0A6-9EA7-E70C795F22ED}"/>
              </a:ext>
            </a:extLst>
          </p:cNvPr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0">
                <a:effectLst/>
              </a:rPr>
              <a:t>What is NOT in your sentence? </a:t>
            </a:r>
            <a:endParaRPr lang="en-US">
              <a:effectLst/>
            </a:endParaRPr>
          </a:p>
          <a:p>
            <a:pPr marL="0" marR="0" indent="-228600" defTabSz="914400">
              <a:lnSpc>
                <a:spcPct val="90000"/>
              </a:lnSpc>
              <a:spcBef>
                <a:spcPts val="1350"/>
              </a:spcBef>
              <a:buFont typeface="Arial" panose="020B0604020202020204" pitchFamily="34" charset="0"/>
              <a:buChar char="•"/>
            </a:pPr>
            <a:r>
              <a:rPr lang="en-US" b="0">
                <a:effectLst/>
              </a:rPr>
              <a:t>List 3 elements NOT in your sentence that could change the outcome. </a:t>
            </a:r>
            <a:endParaRPr lang="en-US">
              <a:effectLst/>
            </a:endParaRPr>
          </a:p>
          <a:p>
            <a:pPr marL="0" marR="0" indent="-228600" defTabSz="914400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b="0">
                <a:effectLst/>
              </a:rPr>
              <a:t>• Do not repeat elements already in your sentence </a:t>
            </a:r>
            <a:endParaRPr lang="en-US">
              <a:effectLst/>
            </a:endParaRPr>
          </a:p>
          <a:p>
            <a:pPr marL="0" marR="0"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0">
                <a:effectLst/>
              </a:rPr>
              <a:t>• Each element must affect the outcome </a:t>
            </a:r>
          </a:p>
          <a:p>
            <a:pPr marL="0" marR="0"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endParaRPr lang="en-US">
              <a:effectLst/>
            </a:endParaRPr>
          </a:p>
          <a:p>
            <a:pPr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altLang="en-US"/>
              <a:t>Rules</a:t>
            </a:r>
          </a:p>
          <a:p>
            <a:pPr marL="285750"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altLang="en-US"/>
              <a:t>Each element must be a single noun phrase (no full sentences)</a:t>
            </a:r>
          </a:p>
          <a:p>
            <a:pPr marL="285750"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altLang="en-US"/>
              <a:t>Do not repeat anything already in your decision sentence </a:t>
            </a:r>
          </a:p>
          <a:p>
            <a:pPr marL="285750"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altLang="en-US"/>
              <a:t>Each element must plausibly change the decision outcome (approve/deny, allow/block, rank/hide, etc.)</a:t>
            </a:r>
          </a:p>
          <a:p>
            <a:pPr marL="0" marR="0"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endParaRPr lang="en-US">
              <a:effectLst/>
            </a:endParaRPr>
          </a:p>
          <a:p>
            <a:pPr marL="0" marR="0" indent="-228600" defTabSz="914400">
              <a:lnSpc>
                <a:spcPct val="90000"/>
              </a:lnSpc>
              <a:spcBef>
                <a:spcPts val="1650"/>
              </a:spcBef>
              <a:buFont typeface="Arial" panose="020B0604020202020204" pitchFamily="34" charset="0"/>
              <a:buChar char="•"/>
            </a:pPr>
            <a:r>
              <a:rPr lang="en-US" b="0">
                <a:effectLst/>
              </a:rPr>
              <a:t>Example: </a:t>
            </a:r>
            <a:endParaRPr lang="en-US">
              <a:effectLst/>
            </a:endParaRPr>
          </a:p>
          <a:p>
            <a:pPr marL="0" marR="0" indent="-228600" defTabSz="9144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b="0">
                <a:effectLst/>
              </a:rPr>
              <a:t>• Credit history </a:t>
            </a:r>
            <a:endParaRPr lang="en-US">
              <a:effectLst/>
            </a:endParaRPr>
          </a:p>
          <a:p>
            <a:pPr marL="0" marR="0"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0">
                <a:effectLst/>
              </a:rPr>
              <a:t>• Lending criteria </a:t>
            </a:r>
            <a:endParaRPr lang="en-US">
              <a:effectLst/>
            </a:endParaRPr>
          </a:p>
          <a:p>
            <a:pPr marL="0" marR="0"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0">
                <a:effectLst/>
              </a:rPr>
              <a:t>• Regulation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4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8521D-A3B4-C8B6-DAF7-7E906D18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84EE59-3061-456B-9FB5-98A8E0E74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E07B5E-9FB5-4C91-8BE4-6167EB58D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24947-EB09-4DD9-973B-9F75BBCD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0C8E25-2DD1-45C6-9F04-0F0CBF66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C57EA3C-C239-4132-A618-5CBE9F896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66B08-0A03-5BDC-19C8-28429430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43" y="456345"/>
            <a:ext cx="3179929" cy="35560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Dissection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F51F0A-F2DD-E0A6-9EA7-E70C795F22ED}"/>
              </a:ext>
            </a:extLst>
          </p:cNvPr>
          <p:cNvSpPr txBox="1"/>
          <p:nvPr/>
        </p:nvSpPr>
        <p:spPr>
          <a:xfrm>
            <a:off x="4905052" y="914400"/>
            <a:ext cx="6483958" cy="54454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What determines the outcome?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Who contributes?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Identify: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• Determinants (what shapes outcome)</a:t>
            </a:r>
            <a:br>
              <a:rPr lang="en-US" sz="1600" dirty="0"/>
            </a:br>
            <a:r>
              <a:rPr lang="en-US" sz="1600" dirty="0"/>
              <a:t>• Contributors (who participates)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Example: Determinants: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• Criteria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• Credit data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Contributors: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• Bank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• Applicant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• Credit agency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• Policy</a:t>
            </a:r>
          </a:p>
        </p:txBody>
      </p:sp>
    </p:spTree>
    <p:extLst>
      <p:ext uri="{BB962C8B-B14F-4D97-AF65-F5344CB8AC3E}">
        <p14:creationId xmlns:p14="http://schemas.microsoft.com/office/powerpoint/2010/main" val="3793524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8521D-A3B4-C8B6-DAF7-7E906D18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66B08-0A03-5BDC-19C8-28429430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457201"/>
            <a:ext cx="2844800" cy="35888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Dissection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74D223-BC6A-08DB-C20C-09B14C3DD652}"/>
              </a:ext>
            </a:extLst>
          </p:cNvPr>
          <p:cNvSpPr txBox="1"/>
          <p:nvPr/>
        </p:nvSpPr>
        <p:spPr>
          <a:xfrm>
            <a:off x="4649245" y="669363"/>
            <a:ext cx="3290579" cy="5534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b="0">
                <a:effectLst/>
              </a:rPr>
              <a:t>Apply two ethical frameworks to your decision. </a:t>
            </a:r>
          </a:p>
          <a:p>
            <a:pPr marL="0" marR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/>
          </a:p>
          <a:p>
            <a:pPr marL="0" marR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>
                <a:effectLst/>
              </a:rPr>
              <a:t>You may </a:t>
            </a:r>
          </a:p>
          <a:p>
            <a:pPr marL="0" marR="0" indent="-228600" defTabSz="914400">
              <a:lnSpc>
                <a:spcPct val="90000"/>
              </a:lnSpc>
              <a:spcBef>
                <a:spcPts val="1050"/>
              </a:spcBef>
              <a:buFont typeface="Arial" panose="020B0604020202020204" pitchFamily="34" charset="0"/>
              <a:buChar char="•"/>
            </a:pPr>
            <a:r>
              <a:rPr lang="en-US" sz="1700" b="1">
                <a:effectLst/>
              </a:rPr>
              <a:t>Instructions </a:t>
            </a:r>
            <a:endParaRPr lang="en-US" sz="1700">
              <a:effectLst/>
            </a:endParaRPr>
          </a:p>
          <a:p>
            <a:pPr marL="285750" marR="0" indent="-228600" defTabSz="9144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700"/>
              <a:t>Identify the Framework you are using</a:t>
            </a:r>
          </a:p>
          <a:p>
            <a:pPr marL="285750" marR="0" indent="-228600" defTabSz="9144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700" b="0">
                <a:effectLst/>
              </a:rPr>
              <a:t>Evaluate possible outcomes </a:t>
            </a:r>
            <a:endParaRPr lang="en-US" sz="1700">
              <a:effectLst/>
            </a:endParaRPr>
          </a:p>
          <a:p>
            <a:pPr marL="285750" marR="0"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700" b="0">
                <a:effectLst/>
              </a:rPr>
              <a:t>Identify affected agents </a:t>
            </a:r>
            <a:endParaRPr lang="en-US" sz="1700">
              <a:effectLst/>
            </a:endParaRPr>
          </a:p>
          <a:p>
            <a:pPr marL="285750" marR="0"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700" b="0">
                <a:effectLst/>
              </a:rPr>
              <a:t>Compare harms and benefits </a:t>
            </a:r>
            <a:endParaRPr lang="en-US" sz="1700">
              <a:effectLst/>
            </a:endParaRPr>
          </a:p>
          <a:p>
            <a:pPr marL="285750" marR="0"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700" b="0">
                <a:effectLst/>
              </a:rPr>
              <a:t>Compare results across frameworks </a:t>
            </a:r>
            <a:endParaRPr lang="en-US" sz="1700">
              <a:effectLst/>
            </a:endParaRPr>
          </a:p>
          <a:p>
            <a:pPr marL="0" marR="0" indent="-228600" defTabSz="914400">
              <a:lnSpc>
                <a:spcPct val="90000"/>
              </a:lnSpc>
              <a:spcBef>
                <a:spcPts val="1350"/>
              </a:spcBef>
              <a:buFont typeface="Arial" panose="020B0604020202020204" pitchFamily="34" charset="0"/>
              <a:buChar char="•"/>
            </a:pPr>
            <a:r>
              <a:rPr lang="en-US" sz="1700" b="1">
                <a:effectLst/>
              </a:rPr>
              <a:t>Example </a:t>
            </a:r>
            <a:endParaRPr lang="en-US" sz="1700">
              <a:effectLst/>
            </a:endParaRPr>
          </a:p>
          <a:p>
            <a:pPr marL="0" marR="0" indent="-228600" defTabSz="9144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700" b="0">
                <a:effectLst/>
              </a:rPr>
              <a:t>Outcome A (approve): benefits applicant, risk to bank </a:t>
            </a:r>
            <a:endParaRPr lang="en-US" sz="1700">
              <a:effectLst/>
            </a:endParaRPr>
          </a:p>
          <a:p>
            <a:pPr marL="0" marR="0" indent="-228600" defTabSz="914400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700" b="0">
                <a:effectLst/>
              </a:rPr>
              <a:t>Outcome B (deny): protects bank, harm to applicant </a:t>
            </a:r>
            <a:endParaRPr lang="en-US" sz="1700">
              <a:effectLst/>
            </a:endParaRPr>
          </a:p>
          <a:p>
            <a:pPr marL="0" marR="0" indent="-228600" defTabSz="9144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700" b="0">
                <a:effectLst/>
              </a:rPr>
              <a:t>Frameworks may prioritize these differently. </a:t>
            </a:r>
            <a:endParaRPr lang="en-US" sz="170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7370F9B-E10D-3A94-9C78-BEF078B88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9024" y="900555"/>
            <a:ext cx="2381255" cy="2381255"/>
          </a:xfrm>
          <a:prstGeom prst="rect">
            <a:avLst/>
          </a:prstGeom>
        </p:spPr>
      </p:pic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1BDC10E1-66E9-0131-8DD2-E7D49FF96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34" y="3589863"/>
            <a:ext cx="2395235" cy="239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35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8E328-4C8C-2FD6-0D63-7295710B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7E6AB-67A8-4A14-B9C8-C2AFF284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9" y="322235"/>
            <a:ext cx="5145024" cy="8216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Dissection 4: Exemplar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8E3DAE2-1B49-F426-C07A-865EF4126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8176" y="54188"/>
            <a:ext cx="1723494" cy="17234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6E7B55-5052-7636-398C-E535CD618C5E}"/>
              </a:ext>
            </a:extLst>
          </p:cNvPr>
          <p:cNvSpPr txBox="1"/>
          <p:nvPr/>
        </p:nvSpPr>
        <p:spPr>
          <a:xfrm>
            <a:off x="657460" y="1233284"/>
            <a:ext cx="7182123" cy="5375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tx2"/>
                </a:solidFill>
              </a:rPr>
              <a:t>Framework 1: </a:t>
            </a:r>
            <a:r>
              <a:rPr lang="en-US" altLang="en-US" b="1" dirty="0">
                <a:solidFill>
                  <a:schemeClr val="tx2"/>
                </a:solidFill>
              </a:rPr>
              <a:t>Consequentialism</a:t>
            </a:r>
            <a:br>
              <a:rPr lang="en-US" altLang="en-US" dirty="0">
                <a:solidFill>
                  <a:schemeClr val="tx2"/>
                </a:solidFill>
              </a:rPr>
            </a:br>
            <a:endParaRPr lang="en-US" altLang="en-US" dirty="0">
              <a:solidFill>
                <a:schemeClr val="tx2"/>
              </a:solidFill>
            </a:endParaRPr>
          </a:p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tx2"/>
                </a:solidFill>
              </a:rPr>
              <a:t>Outcome A (approve loan):</a:t>
            </a:r>
            <a:br>
              <a:rPr lang="en-US" altLang="en-US" dirty="0">
                <a:solidFill>
                  <a:schemeClr val="tx2"/>
                </a:solidFill>
              </a:rPr>
            </a:br>
            <a:endParaRPr lang="en-US" altLang="en-US" dirty="0">
              <a:solidFill>
                <a:schemeClr val="tx2"/>
              </a:solidFill>
            </a:endParaRPr>
          </a:p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tx2"/>
                </a:solidFill>
              </a:rPr>
              <a:t>• Benefits: applicant gains access to capital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• Harms: increased financial risk to bank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• Affected agents: applicant, bank</a:t>
            </a:r>
          </a:p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tx2"/>
                </a:solidFill>
              </a:rPr>
              <a:t>Outcome B (deny loan):</a:t>
            </a:r>
            <a:br>
              <a:rPr lang="en-US" altLang="en-US" dirty="0">
                <a:solidFill>
                  <a:schemeClr val="tx2"/>
                </a:solidFill>
              </a:rPr>
            </a:br>
            <a:endParaRPr lang="en-US" altLang="en-US" dirty="0">
              <a:solidFill>
                <a:schemeClr val="tx2"/>
              </a:solidFill>
            </a:endParaRPr>
          </a:p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tx2"/>
                </a:solidFill>
              </a:rPr>
              <a:t>• Benefits: reduced financial risk to bank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• Harms: applicant denied opportunity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• Affected agents: applicant, bank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F8362F1E-0AC9-476D-4BC7-97B608505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727" y="3863170"/>
            <a:ext cx="1996361" cy="19963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35DA63-DFB5-F4E3-4856-B43625AAB2F2}"/>
              </a:ext>
            </a:extLst>
          </p:cNvPr>
          <p:cNvSpPr txBox="1"/>
          <p:nvPr/>
        </p:nvSpPr>
        <p:spPr>
          <a:xfrm>
            <a:off x="5535446" y="1175584"/>
            <a:ext cx="7182123" cy="5375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tx2"/>
                </a:solidFill>
              </a:rPr>
              <a:t>Framework 2: </a:t>
            </a:r>
            <a:r>
              <a:rPr lang="en-US" altLang="en-US" b="1" dirty="0">
                <a:solidFill>
                  <a:schemeClr val="tx2"/>
                </a:solidFill>
              </a:rPr>
              <a:t>Deontology</a:t>
            </a:r>
            <a:br>
              <a:rPr lang="en-US" altLang="en-US" dirty="0">
                <a:solidFill>
                  <a:schemeClr val="tx2"/>
                </a:solidFill>
              </a:rPr>
            </a:br>
            <a:endParaRPr lang="en-US" altLang="en-US" dirty="0">
              <a:solidFill>
                <a:schemeClr val="tx2"/>
              </a:solidFill>
            </a:endParaRPr>
          </a:p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chemeClr val="tx2"/>
                </a:solidFill>
              </a:rPr>
              <a:t>Outcome A (approve loan):</a:t>
            </a:r>
          </a:p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• Harms: violation of lending rules if criteria are not met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• Affected agents: bank, regulatory bodies</a:t>
            </a:r>
          </a:p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2"/>
                </a:solidFill>
              </a:rPr>
              <a:t>Outcome B (deny loan):</a:t>
            </a:r>
          </a:p>
          <a:p>
            <a:pPr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• Benefits: adherence to established rules and duties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• Harms: applicant disadvantaged despite need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• Affected agents: applicant, bank</a:t>
            </a:r>
          </a:p>
          <a:p>
            <a:pPr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2"/>
                </a:solidFill>
              </a:rPr>
              <a:t>Comparison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Consequentialism prioritizes overall outcomes and risk–benefit balance.</a:t>
            </a:r>
            <a:br>
              <a:rPr lang="en-US" altLang="en-US" dirty="0">
                <a:solidFill>
                  <a:schemeClr val="tx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Deontology prioritizes rule compliance, even when outcomes differ.</a:t>
            </a:r>
          </a:p>
        </p:txBody>
      </p:sp>
    </p:spTree>
    <p:extLst>
      <p:ext uri="{BB962C8B-B14F-4D97-AF65-F5344CB8AC3E}">
        <p14:creationId xmlns:p14="http://schemas.microsoft.com/office/powerpoint/2010/main" val="896707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8521D-A3B4-C8B6-DAF7-7E906D18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66B08-0A03-5BDC-19C8-28429430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457201"/>
            <a:ext cx="2844800" cy="35888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Dissection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74D223-BC6A-08DB-C20C-09B14C3DD652}"/>
              </a:ext>
            </a:extLst>
          </p:cNvPr>
          <p:cNvSpPr txBox="1"/>
          <p:nvPr/>
        </p:nvSpPr>
        <p:spPr>
          <a:xfrm>
            <a:off x="4649245" y="669363"/>
            <a:ext cx="4032779" cy="5534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Where frameworks disagree</a:t>
            </a:r>
            <a:r>
              <a:rPr lang="en-US" sz="1400" dirty="0"/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Identify </a:t>
            </a:r>
            <a:r>
              <a:rPr lang="en-US" sz="1400" b="1" dirty="0"/>
              <a:t>one use case</a:t>
            </a:r>
            <a:r>
              <a:rPr lang="en-US" sz="1400" dirty="0"/>
              <a:t> where applying</a:t>
            </a:r>
          </a:p>
          <a:p>
            <a:pPr lv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lv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Framework A</a:t>
            </a:r>
            <a:r>
              <a:rPr lang="en-US" sz="1400" dirty="0"/>
              <a:t> leads to </a:t>
            </a:r>
            <a:r>
              <a:rPr lang="en-US" sz="1400" b="1" dirty="0"/>
              <a:t>Decision X</a:t>
            </a:r>
            <a:endParaRPr lang="en-US" sz="1400" dirty="0"/>
          </a:p>
          <a:p>
            <a:pPr lv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Framework B</a:t>
            </a:r>
            <a:r>
              <a:rPr lang="en-US" sz="1400" dirty="0"/>
              <a:t> leads to </a:t>
            </a:r>
            <a:r>
              <a:rPr lang="en-US" sz="1400" b="1" dirty="0"/>
              <a:t>Decision Y</a:t>
            </a:r>
            <a:endParaRPr lang="en-US" sz="14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Requirements</a:t>
            </a:r>
          </a:p>
          <a:p>
            <a:pPr marL="285750" lv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Same decision context</a:t>
            </a:r>
          </a:p>
          <a:p>
            <a:pPr marL="285750" lv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Same actors and target</a:t>
            </a:r>
          </a:p>
          <a:p>
            <a:pPr marL="285750" lv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Different justified outcomes</a:t>
            </a:r>
          </a:p>
          <a:p>
            <a:pPr lv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Focus</a:t>
            </a:r>
          </a:p>
          <a:p>
            <a:pPr marL="285750" lv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What assumption or priority changes?</a:t>
            </a:r>
          </a:p>
          <a:p>
            <a:pPr marL="285750" lv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What harm is elevated or constrained?</a:t>
            </a:r>
          </a:p>
          <a:p>
            <a:pPr marL="285750" lv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Why does the framework diverge here?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7370F9B-E10D-3A94-9C78-BEF078B88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9024" y="900555"/>
            <a:ext cx="2381255" cy="2381255"/>
          </a:xfrm>
          <a:prstGeom prst="rect">
            <a:avLst/>
          </a:prstGeom>
        </p:spPr>
      </p:pic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1BDC10E1-66E9-0131-8DD2-E7D49FF96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34" y="3589863"/>
            <a:ext cx="2395235" cy="239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085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8E328-4C8C-2FD6-0D63-7295710B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7E6AB-67A8-4A14-B9C8-C2AFF284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9" y="322235"/>
            <a:ext cx="5145024" cy="8216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Dissection 5: Exemplar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8E3DAE2-1B49-F426-C07A-865EF4126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8200" y="1690266"/>
            <a:ext cx="1723494" cy="17234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6E7B55-5052-7636-398C-E535CD618C5E}"/>
              </a:ext>
            </a:extLst>
          </p:cNvPr>
          <p:cNvSpPr txBox="1"/>
          <p:nvPr/>
        </p:nvSpPr>
        <p:spPr>
          <a:xfrm>
            <a:off x="657460" y="1233284"/>
            <a:ext cx="7182123" cy="5375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Example: Same case, different outcomes</a:t>
            </a:r>
          </a:p>
          <a:p>
            <a:r>
              <a:rPr lang="en-US" b="1" dirty="0"/>
              <a:t>Decision</a:t>
            </a:r>
            <a:br>
              <a:rPr lang="en-US" b="1" dirty="0"/>
            </a:br>
            <a:r>
              <a:rPr lang="en-US" b="1" dirty="0"/>
              <a:t>A bank decides whether to approve or deny a loan to an applicant.</a:t>
            </a:r>
          </a:p>
          <a:p>
            <a:endParaRPr lang="en-US" b="1" i="1" dirty="0"/>
          </a:p>
          <a:p>
            <a:r>
              <a:rPr lang="en-US" b="1" i="1" dirty="0"/>
              <a:t>Consequentialism → </a:t>
            </a:r>
            <a:r>
              <a:rPr lang="en-US" i="1" dirty="0"/>
              <a:t>Approve</a:t>
            </a:r>
            <a:endParaRPr lang="en-US" b="1" i="1" dirty="0"/>
          </a:p>
          <a:p>
            <a:pPr lvl="0"/>
            <a:r>
              <a:rPr lang="en-US" dirty="0"/>
              <a:t>The applicant gains access to capital, enabling housing stability or business growth.</a:t>
            </a:r>
          </a:p>
          <a:p>
            <a:pPr lvl="0"/>
            <a:r>
              <a:rPr lang="en-US" dirty="0"/>
              <a:t>The bank assumes some financial risk, but expected overall benefit (to applicant and possibly society) outweighs potential loss.</a:t>
            </a:r>
          </a:p>
          <a:p>
            <a:pPr lvl="0"/>
            <a:r>
              <a:rPr lang="en-US" dirty="0"/>
              <a:t>Harm is evaluated by aggregate outcomes and risk–benefit balance.</a:t>
            </a:r>
          </a:p>
          <a:p>
            <a:r>
              <a:rPr lang="en-US" b="1" dirty="0"/>
              <a:t>Recommended outcome:</a:t>
            </a:r>
            <a:r>
              <a:rPr lang="en-US" dirty="0"/>
              <a:t> </a:t>
            </a:r>
            <a:r>
              <a:rPr lang="en-US" b="1" dirty="0"/>
              <a:t>Approve the loan</a:t>
            </a:r>
            <a:endParaRPr lang="en-US" dirty="0"/>
          </a:p>
          <a:p>
            <a:r>
              <a:rPr lang="en-US" b="1" i="1" dirty="0"/>
              <a:t>Deontology → </a:t>
            </a:r>
            <a:r>
              <a:rPr lang="en-US" i="1" dirty="0"/>
              <a:t>Deny</a:t>
            </a:r>
            <a:endParaRPr lang="en-US" b="1" i="1" dirty="0"/>
          </a:p>
          <a:p>
            <a:pPr lvl="0"/>
            <a:r>
              <a:rPr lang="en-US" dirty="0"/>
              <a:t>Lending rules and eligibility criteria are not fully met.</a:t>
            </a:r>
          </a:p>
          <a:p>
            <a:pPr lvl="0"/>
            <a:r>
              <a:rPr lang="en-US" dirty="0"/>
              <a:t>Approving would violate established duties and procedural fairness.</a:t>
            </a:r>
          </a:p>
          <a:p>
            <a:pPr lvl="0"/>
            <a:r>
              <a:rPr lang="en-US" dirty="0"/>
              <a:t>Even if approval would benefit the applicant, rule compliance takes priority.</a:t>
            </a:r>
          </a:p>
          <a:p>
            <a:endParaRPr lang="en-US" b="1" dirty="0"/>
          </a:p>
          <a:p>
            <a:r>
              <a:rPr lang="en-US" b="1" dirty="0"/>
              <a:t>Recommended outcome:</a:t>
            </a:r>
            <a:r>
              <a:rPr lang="en-US" dirty="0"/>
              <a:t> </a:t>
            </a:r>
            <a:r>
              <a:rPr lang="en-US" b="1" dirty="0"/>
              <a:t>Deny the loan</a:t>
            </a:r>
            <a:endParaRPr lang="en-US" dirty="0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F8362F1E-0AC9-476D-4BC7-97B608505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727" y="3863170"/>
            <a:ext cx="1996361" cy="199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98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B1494-E55F-B30D-3E2E-FF8A17E4C49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" y="457200"/>
            <a:ext cx="6629400" cy="752475"/>
          </a:xfrm>
        </p:spPr>
        <p:txBody>
          <a:bodyPr/>
          <a:lstStyle/>
          <a:p>
            <a:pPr marL="0" marR="0" algn="l">
              <a:buNone/>
            </a:pPr>
            <a:r>
              <a:rPr sz="4400" b="1" dirty="0">
                <a:solidFill>
                  <a:srgbClr val="1B334D"/>
                </a:solidFill>
                <a:effectLst/>
                <a:latin typeface="Daytona Bold" panose="020B0804030500040204" pitchFamily="34" charset="0"/>
              </a:rPr>
              <a:t>ZOTERO</a:t>
            </a:r>
            <a:endParaRPr lang="en-US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3B52C-374A-16B9-6C2D-F64462EB21F5}"/>
              </a:ext>
            </a:extLst>
          </p:cNvPr>
          <p:cNvSpPr txBox="1"/>
          <p:nvPr/>
        </p:nvSpPr>
        <p:spPr>
          <a:xfrm>
            <a:off x="1981200" y="2057400"/>
            <a:ext cx="79224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Segoe UI" panose="020B0502040204020203" pitchFamily="34" charset="0"/>
              </a:rPr>
              <a:t>ZOTERO CHECK</a:t>
            </a:r>
            <a:endParaRPr lang="en-US" alt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Confirm: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• Your Assignment 4 sources are uploaded</a:t>
            </a:r>
            <a:b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</a:b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• Entries appear in your Zotero library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</a:rPr>
              <a:t>Next: We will review and discuss tagging.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pic>
        <p:nvPicPr>
          <p:cNvPr id="10243" name="Picture 3">
            <a:extLst>
              <a:ext uri="{FF2B5EF4-FFF2-40B4-BE49-F238E27FC236}">
                <a16:creationId xmlns:a16="http://schemas.microsoft.com/office/drawing/2014/main" id="{793E6B07-37B5-031A-1255-38B03C690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400" y="833437"/>
            <a:ext cx="3556000" cy="35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957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26D72-6840-59E8-B636-D698FC5E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465" y="335577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Why decisions differ</a:t>
            </a:r>
            <a:endParaRPr lang="en-US" sz="480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1C6FC65-4437-CAFE-F849-7C7DD8E30599}"/>
              </a:ext>
            </a:extLst>
          </p:cNvPr>
          <p:cNvSpPr/>
          <p:nvPr/>
        </p:nvSpPr>
        <p:spPr>
          <a:xfrm>
            <a:off x="1784931" y="1674448"/>
            <a:ext cx="4125507" cy="4220663"/>
          </a:xfrm>
          <a:custGeom>
            <a:avLst/>
            <a:gdLst>
              <a:gd name="csX0" fmla="*/ 0 w 3589379"/>
              <a:gd name="csY0" fmla="*/ 356131 h 3561314"/>
              <a:gd name="csX1" fmla="*/ 356131 w 3589379"/>
              <a:gd name="csY1" fmla="*/ 0 h 3561314"/>
              <a:gd name="csX2" fmla="*/ 3233248 w 3589379"/>
              <a:gd name="csY2" fmla="*/ 0 h 3561314"/>
              <a:gd name="csX3" fmla="*/ 3589379 w 3589379"/>
              <a:gd name="csY3" fmla="*/ 356131 h 3561314"/>
              <a:gd name="csX4" fmla="*/ 3589379 w 3589379"/>
              <a:gd name="csY4" fmla="*/ 3205183 h 3561314"/>
              <a:gd name="csX5" fmla="*/ 3233248 w 3589379"/>
              <a:gd name="csY5" fmla="*/ 3561314 h 3561314"/>
              <a:gd name="csX6" fmla="*/ 356131 w 3589379"/>
              <a:gd name="csY6" fmla="*/ 3561314 h 3561314"/>
              <a:gd name="csX7" fmla="*/ 0 w 3589379"/>
              <a:gd name="csY7" fmla="*/ 3205183 h 3561314"/>
              <a:gd name="csX8" fmla="*/ 0 w 3589379"/>
              <a:gd name="csY8" fmla="*/ 356131 h 35613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89379" h="3561314">
                <a:moveTo>
                  <a:pt x="0" y="356131"/>
                </a:moveTo>
                <a:cubicBezTo>
                  <a:pt x="0" y="159445"/>
                  <a:pt x="159445" y="0"/>
                  <a:pt x="356131" y="0"/>
                </a:cubicBezTo>
                <a:lnTo>
                  <a:pt x="3233248" y="0"/>
                </a:lnTo>
                <a:cubicBezTo>
                  <a:pt x="3429934" y="0"/>
                  <a:pt x="3589379" y="159445"/>
                  <a:pt x="3589379" y="356131"/>
                </a:cubicBezTo>
                <a:lnTo>
                  <a:pt x="3589379" y="3205183"/>
                </a:lnTo>
                <a:cubicBezTo>
                  <a:pt x="3589379" y="3401869"/>
                  <a:pt x="3429934" y="3561314"/>
                  <a:pt x="3233248" y="3561314"/>
                </a:cubicBezTo>
                <a:lnTo>
                  <a:pt x="356131" y="3561314"/>
                </a:lnTo>
                <a:cubicBezTo>
                  <a:pt x="159445" y="3561314"/>
                  <a:pt x="0" y="3401869"/>
                  <a:pt x="0" y="3205183"/>
                </a:cubicBezTo>
                <a:lnTo>
                  <a:pt x="0" y="356131"/>
                </a:lnTo>
                <a:close/>
              </a:path>
            </a:pathLst>
          </a:cu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2887" tIns="172887" rIns="172887" bIns="172887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Consequentialism</a:t>
            </a:r>
            <a:br>
              <a:rPr lang="en-US" sz="1800" kern="1200" dirty="0"/>
            </a:br>
            <a:endParaRPr lang="en-US" sz="1800" kern="1200" dirty="0"/>
          </a:p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 dirty="0"/>
              <a:t>This decision prioritizes </a:t>
            </a:r>
            <a:r>
              <a:rPr lang="en-US" sz="1800" b="1" kern="1200" dirty="0"/>
              <a:t>aggregate outcome and expected benefit</a:t>
            </a:r>
            <a:r>
              <a:rPr lang="en-US" sz="1800" kern="1200" dirty="0"/>
              <a:t>.</a:t>
            </a:r>
            <a:br>
              <a:rPr lang="en-US" sz="1800" kern="1200" dirty="0"/>
            </a:br>
            <a:endParaRPr lang="en-US" sz="1800" kern="1200" dirty="0"/>
          </a:p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 dirty="0"/>
              <a:t>Approval is favored because the overall benefits (to the applicant and potential downstream effects) are judged to outweigh the financial risk to the bank.</a:t>
            </a:r>
            <a:br>
              <a:rPr lang="en-US" sz="1800" kern="1200" dirty="0"/>
            </a:br>
            <a:endParaRPr lang="en-US" sz="1800" kern="1200" dirty="0"/>
          </a:p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 dirty="0"/>
              <a:t>Harm is evaluated by </a:t>
            </a:r>
            <a:r>
              <a:rPr lang="en-US" sz="1800" b="1" kern="1200" dirty="0"/>
              <a:t>net impact across affected agents</a:t>
            </a:r>
            <a:r>
              <a:rPr lang="en-US" sz="1800" kern="1200" dirty="0"/>
              <a:t>, not by rule compliance.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ECF06CA-22B3-3985-6C62-1AE6F16BDD1E}"/>
              </a:ext>
            </a:extLst>
          </p:cNvPr>
          <p:cNvSpPr/>
          <p:nvPr/>
        </p:nvSpPr>
        <p:spPr>
          <a:xfrm>
            <a:off x="6678478" y="1628872"/>
            <a:ext cx="4293202" cy="4313973"/>
          </a:xfrm>
          <a:custGeom>
            <a:avLst/>
            <a:gdLst>
              <a:gd name="csX0" fmla="*/ 0 w 3589379"/>
              <a:gd name="csY0" fmla="*/ 314711 h 3147105"/>
              <a:gd name="csX1" fmla="*/ 314711 w 3589379"/>
              <a:gd name="csY1" fmla="*/ 0 h 3147105"/>
              <a:gd name="csX2" fmla="*/ 3274669 w 3589379"/>
              <a:gd name="csY2" fmla="*/ 0 h 3147105"/>
              <a:gd name="csX3" fmla="*/ 3589380 w 3589379"/>
              <a:gd name="csY3" fmla="*/ 314711 h 3147105"/>
              <a:gd name="csX4" fmla="*/ 3589379 w 3589379"/>
              <a:gd name="csY4" fmla="*/ 2832395 h 3147105"/>
              <a:gd name="csX5" fmla="*/ 3274668 w 3589379"/>
              <a:gd name="csY5" fmla="*/ 3147106 h 3147105"/>
              <a:gd name="csX6" fmla="*/ 314711 w 3589379"/>
              <a:gd name="csY6" fmla="*/ 3147105 h 3147105"/>
              <a:gd name="csX7" fmla="*/ 0 w 3589379"/>
              <a:gd name="csY7" fmla="*/ 2832394 h 3147105"/>
              <a:gd name="csX8" fmla="*/ 0 w 3589379"/>
              <a:gd name="csY8" fmla="*/ 314711 h 3147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89379" h="3147105">
                <a:moveTo>
                  <a:pt x="0" y="314711"/>
                </a:moveTo>
                <a:cubicBezTo>
                  <a:pt x="0" y="140901"/>
                  <a:pt x="140901" y="0"/>
                  <a:pt x="314711" y="0"/>
                </a:cubicBezTo>
                <a:lnTo>
                  <a:pt x="3274669" y="0"/>
                </a:lnTo>
                <a:cubicBezTo>
                  <a:pt x="3448479" y="0"/>
                  <a:pt x="3589380" y="140901"/>
                  <a:pt x="3589380" y="314711"/>
                </a:cubicBezTo>
                <a:cubicBezTo>
                  <a:pt x="3589380" y="1153939"/>
                  <a:pt x="3589379" y="1993167"/>
                  <a:pt x="3589379" y="2832395"/>
                </a:cubicBezTo>
                <a:cubicBezTo>
                  <a:pt x="3589379" y="3006205"/>
                  <a:pt x="3448478" y="3147106"/>
                  <a:pt x="3274668" y="3147106"/>
                </a:cubicBezTo>
                <a:lnTo>
                  <a:pt x="314711" y="3147105"/>
                </a:lnTo>
                <a:cubicBezTo>
                  <a:pt x="140901" y="3147105"/>
                  <a:pt x="0" y="3006204"/>
                  <a:pt x="0" y="2832394"/>
                </a:cubicBezTo>
                <a:lnTo>
                  <a:pt x="0" y="314711"/>
                </a:lnTo>
                <a:close/>
              </a:path>
            </a:pathLst>
          </a:cu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756" tIns="160756" rIns="160756" bIns="160756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Deontology</a:t>
            </a:r>
            <a:br>
              <a:rPr lang="en-US" sz="1800" kern="1200" dirty="0"/>
            </a:br>
            <a:endParaRPr lang="en-US" sz="1800" kern="1200" dirty="0"/>
          </a:p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 dirty="0"/>
              <a:t>This decision prioritizes </a:t>
            </a:r>
            <a:r>
              <a:rPr lang="en-US" sz="1800" b="1" kern="1200" dirty="0"/>
              <a:t>rule adherence and procedural obligation</a:t>
            </a:r>
            <a:r>
              <a:rPr lang="en-US" sz="1800" kern="1200" dirty="0"/>
              <a:t>.</a:t>
            </a:r>
            <a:br>
              <a:rPr lang="en-US" sz="1800" kern="1200" dirty="0"/>
            </a:br>
            <a:endParaRPr lang="en-US" sz="1800" kern="1200" dirty="0"/>
          </a:p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 dirty="0"/>
              <a:t>Denial is favored because approving the loan would violate established lending criteria, regardless of beneficial outcomes.</a:t>
            </a:r>
            <a:br>
              <a:rPr lang="en-US" sz="1800" kern="1200" dirty="0"/>
            </a:br>
            <a:endParaRPr lang="en-US" sz="1800" kern="1200" dirty="0"/>
          </a:p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kern="1200" dirty="0"/>
              <a:t>Harm is defined as </a:t>
            </a:r>
            <a:r>
              <a:rPr lang="en-US" sz="1800" b="1" kern="1200" dirty="0"/>
              <a:t>breach of duty</a:t>
            </a:r>
            <a:r>
              <a:rPr lang="en-US" sz="1800" kern="1200" dirty="0"/>
              <a:t>, even when consequences appear favorable.</a:t>
            </a:r>
          </a:p>
        </p:txBody>
      </p:sp>
    </p:spTree>
    <p:extLst>
      <p:ext uri="{BB962C8B-B14F-4D97-AF65-F5344CB8AC3E}">
        <p14:creationId xmlns:p14="http://schemas.microsoft.com/office/powerpoint/2010/main" val="3327357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0738" y="647593"/>
            <a:ext cx="4467792" cy="3060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Evaluating Frameworks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03E5D6-1992-C93F-C89A-C6D72E11B9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80738" y="3800209"/>
            <a:ext cx="4467792" cy="24101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Different results. Same system?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368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Scales of Justice">
            <a:extLst>
              <a:ext uri="{FF2B5EF4-FFF2-40B4-BE49-F238E27FC236}">
                <a16:creationId xmlns:a16="http://schemas.microsoft.com/office/drawing/2014/main" id="{4BE6ACE4-EC55-1398-9202-01D35FA44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8572" y="1374798"/>
            <a:ext cx="4108404" cy="4108404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  <p:sp>
        <p:nvSpPr>
          <p:cNvPr id="3" name="AutoShape 2" descr="Generated image: Misbalanced scales icon in blue">
            <a:extLst>
              <a:ext uri="{FF2B5EF4-FFF2-40B4-BE49-F238E27FC236}">
                <a16:creationId xmlns:a16="http://schemas.microsoft.com/office/drawing/2014/main" id="{2BDF73C1-DADB-4BF5-4138-FC0052B5D6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Generated image: Misbalanced scales icon in blue">
            <a:extLst>
              <a:ext uri="{FF2B5EF4-FFF2-40B4-BE49-F238E27FC236}">
                <a16:creationId xmlns:a16="http://schemas.microsoft.com/office/drawing/2014/main" id="{A8C5535F-D3E6-CC30-D580-6FF59E2CAF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blue scale in a circle&#10;&#10;AI-generated content may be incorrect.">
            <a:extLst>
              <a:ext uri="{FF2B5EF4-FFF2-40B4-BE49-F238E27FC236}">
                <a16:creationId xmlns:a16="http://schemas.microsoft.com/office/drawing/2014/main" id="{6DB53DD8-58A7-FCBD-DB11-968B43EAD5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44" y="177800"/>
            <a:ext cx="6502400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F2B5D-9FFD-3073-584D-530D6CAF0B1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9125" y="619125"/>
            <a:ext cx="12172950" cy="468659"/>
          </a:xfrm>
        </p:spPr>
        <p:txBody>
          <a:bodyPr/>
          <a:lstStyle/>
          <a:p>
            <a:pPr marL="0" marR="0" algn="l">
              <a:buNone/>
            </a:pPr>
            <a:r>
              <a:rPr sz="3200" b="1" dirty="0">
                <a:solidFill>
                  <a:srgbClr val="1B334D"/>
                </a:solidFill>
                <a:effectLst/>
                <a:latin typeface="Daytona Bold" panose="020B0804030500040204" pitchFamily="34" charset="0"/>
              </a:rPr>
              <a:t>PROBLEM </a:t>
            </a:r>
            <a:endParaRPr lang="en-US" sz="3200" dirty="0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09E2FCB4-B352-DE1C-7E7E-DEB567A93A6F}"/>
              </a:ext>
            </a:extLst>
          </p:cNvPr>
          <p:cNvGraphicFramePr>
            <a:graphicFrameLocks noGrp="1"/>
          </p:cNvGraphicFramePr>
          <p:nvPr>
            <p:ph sz="quarter" idx="15"/>
          </p:nvPr>
        </p:nvGraphicFramePr>
        <p:xfrm>
          <a:off x="1779362" y="1752600"/>
          <a:ext cx="957443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5823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 dirty="0">
                <a:latin typeface="+mj-lt"/>
                <a:ea typeface="+mj-ea"/>
                <a:cs typeface="+mj-cs"/>
              </a:rPr>
              <a:t>Meta Frameworks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03E5D6-1992-C93F-C89A-C6D72E11B9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sz="2200" kern="1200" dirty="0">
                <a:latin typeface="+mn-lt"/>
                <a:ea typeface="+mn-ea"/>
                <a:cs typeface="+mn-cs"/>
              </a:rPr>
              <a:t>Different results. Same system?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kern="1200" dirty="0">
                <a:latin typeface="+mn-lt"/>
                <a:ea typeface="+mn-ea"/>
                <a:cs typeface="+mn-cs"/>
              </a:rPr>
              <a:t>If different frameworks provide different results, how do we develop a system that allows us to ethically evaluate the frameworks? 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Is this even possible?</a:t>
            </a:r>
            <a:endParaRPr lang="en-US" sz="22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AutoShape 2" descr="Generated image: Misbalanced scales icon in blue">
            <a:extLst>
              <a:ext uri="{FF2B5EF4-FFF2-40B4-BE49-F238E27FC236}">
                <a16:creationId xmlns:a16="http://schemas.microsoft.com/office/drawing/2014/main" id="{2BDF73C1-DADB-4BF5-4138-FC0052B5D6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Generated image: Misbalanced scales icon in blue">
            <a:extLst>
              <a:ext uri="{FF2B5EF4-FFF2-40B4-BE49-F238E27FC236}">
                <a16:creationId xmlns:a16="http://schemas.microsoft.com/office/drawing/2014/main" id="{A8C5535F-D3E6-CC30-D580-6FF59E2CAF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2" descr="Generated image 1">
            <a:extLst>
              <a:ext uri="{FF2B5EF4-FFF2-40B4-BE49-F238E27FC236}">
                <a16:creationId xmlns:a16="http://schemas.microsoft.com/office/drawing/2014/main" id="{D18AE5D1-C694-B3F5-31BD-3DFD5F2685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209719-D1C7-2BC7-ABE2-74C302D99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003" y="177800"/>
            <a:ext cx="65024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27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are the requirements for a Universal Framework? </a:t>
            </a:r>
          </a:p>
        </p:txBody>
      </p:sp>
      <p:sp>
        <p:nvSpPr>
          <p:cNvPr id="3" name="AutoShape 2" descr="Generated image: Misbalanced scales icon in blue">
            <a:extLst>
              <a:ext uri="{FF2B5EF4-FFF2-40B4-BE49-F238E27FC236}">
                <a16:creationId xmlns:a16="http://schemas.microsoft.com/office/drawing/2014/main" id="{2BDF73C1-DADB-4BF5-4138-FC0052B5D6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Generated image: Misbalanced scales icon in blue">
            <a:extLst>
              <a:ext uri="{FF2B5EF4-FFF2-40B4-BE49-F238E27FC236}">
                <a16:creationId xmlns:a16="http://schemas.microsoft.com/office/drawing/2014/main" id="{A8C5535F-D3E6-CC30-D580-6FF59E2CAF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32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5031" y="2157543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 ethical behavior be applied to a tool?</a:t>
            </a: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utoShape 2" descr="Generated image: Misbalanced scales icon in blue">
            <a:extLst>
              <a:ext uri="{FF2B5EF4-FFF2-40B4-BE49-F238E27FC236}">
                <a16:creationId xmlns:a16="http://schemas.microsoft.com/office/drawing/2014/main" id="{2BDF73C1-DADB-4BF5-4138-FC0052B5D6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Generated image: Misbalanced scales icon in blue">
            <a:extLst>
              <a:ext uri="{FF2B5EF4-FFF2-40B4-BE49-F238E27FC236}">
                <a16:creationId xmlns:a16="http://schemas.microsoft.com/office/drawing/2014/main" id="{A8C5535F-D3E6-CC30-D580-6FF59E2CAF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58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5005" y="1828374"/>
            <a:ext cx="5561938" cy="31534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Developing new ethical paradigms in combinative reality</a:t>
            </a: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utoShape 2" descr="Generated image: Misbalanced scales icon in blue">
            <a:extLst>
              <a:ext uri="{FF2B5EF4-FFF2-40B4-BE49-F238E27FC236}">
                <a16:creationId xmlns:a16="http://schemas.microsoft.com/office/drawing/2014/main" id="{2BDF73C1-DADB-4BF5-4138-FC0052B5D6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Generated image: Misbalanced scales icon in blue">
            <a:extLst>
              <a:ext uri="{FF2B5EF4-FFF2-40B4-BE49-F238E27FC236}">
                <a16:creationId xmlns:a16="http://schemas.microsoft.com/office/drawing/2014/main" id="{A8C5535F-D3E6-CC30-D580-6FF59E2CAF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077B8E-8ED9-4487-A86A-B136822895D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B8F7C-1343-1EB1-49D0-8262640A8B2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8675" y="-7244357"/>
            <a:ext cx="10534650" cy="13273682"/>
          </a:xfrm>
        </p:spPr>
        <p:txBody>
          <a:bodyPr/>
          <a:lstStyle/>
          <a:p>
            <a:pPr marL="0" marR="0" algn="l" fontAlgn="b">
              <a:buNone/>
            </a:pPr>
            <a:r>
              <a:rPr>
                <a:solidFill>
                  <a:srgbClr val="1B334D"/>
                </a:solidFill>
                <a:effectLst/>
                <a:latin typeface="Daytona Bold" panose="020B0804030500040204" pitchFamily="34" charset="0"/>
              </a:rPr>
              <a:t>Conclusion and Next Steps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77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F0395C-057B-4B17-AD07-08CB8364539F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21990-D52A-2886-36CA-5FCD307560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9125" y="619125"/>
            <a:ext cx="12172950" cy="3284785"/>
          </a:xfrm>
        </p:spPr>
        <p:txBody>
          <a:bodyPr/>
          <a:lstStyle/>
          <a:p>
            <a:pPr marL="0" marR="0" algn="l">
              <a:buNone/>
            </a:pPr>
            <a:r>
              <a:rPr b="1">
                <a:solidFill>
                  <a:srgbClr val="1B334D"/>
                </a:solidFill>
                <a:effectLst/>
                <a:latin typeface="Daytona Bold" panose="020B0804030500040204" pitchFamily="34" charset="0"/>
              </a:rPr>
              <a:t>CLOSING 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5C334-EF33-4CAF-A9D1-C6E4B4F6D203}"/>
              </a:ext>
            </a:extLst>
          </p:cNvPr>
          <p:cNvSpPr txBox="1"/>
          <p:nvPr/>
        </p:nvSpPr>
        <p:spPr>
          <a:xfrm>
            <a:off x="619125" y="3990975"/>
            <a:ext cx="5715000" cy="248542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 marL="0" marR="0" algn="l">
              <a:buNone/>
            </a:pPr>
            <a:r>
              <a:rPr sz="1350" b="0">
                <a:solidFill>
                  <a:srgbClr val="1B334D"/>
                </a:solidFill>
                <a:effectLst/>
                <a:latin typeface="Daytona Regular"/>
              </a:rPr>
              <a:t>Ethics depends on system description.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94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FA85CE-A865-4F80-A7CF-A7AA81A0E835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C491A-ECA0-935A-EF79-572E5D2D39B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9125" y="1038225"/>
            <a:ext cx="10972800" cy="422374"/>
          </a:xfrm>
        </p:spPr>
        <p:txBody>
          <a:bodyPr/>
          <a:lstStyle/>
          <a:p>
            <a:pPr marL="0" algn="l">
              <a:buNone/>
            </a:pPr>
            <a:r>
              <a:rPr b="0">
                <a:solidFill>
                  <a:srgbClr val="1B334D"/>
                </a:solidFill>
                <a:effectLst/>
                <a:latin typeface="Daytona Bold" panose="020B0804030500040204" pitchFamily="34" charset="0"/>
              </a:rPr>
              <a:t>Apply BBS to Evaluation 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A41026-60CD-41C2-A30D-F479C5D07284}"/>
              </a:ext>
            </a:extLst>
          </p:cNvPr>
          <p:cNvSpPr txBox="1"/>
          <p:nvPr/>
        </p:nvSpPr>
        <p:spPr>
          <a:xfrm>
            <a:off x="619125" y="2249537"/>
            <a:ext cx="4476750" cy="1248519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pPr marL="0" algn="l">
              <a:buNone/>
            </a:pPr>
            <a:r>
              <a:rPr sz="1800" b="0">
                <a:solidFill>
                  <a:srgbClr val="1B334D"/>
                </a:solidFill>
                <a:effectLst/>
                <a:latin typeface="Daytona Bold" panose="020B0804030500040204" pitchFamily="34" charset="0"/>
              </a:rPr>
              <a:t>How to apply BBS </a:t>
            </a:r>
            <a:endParaRPr>
              <a:effectLst/>
            </a:endParaRPr>
          </a:p>
          <a:p>
            <a:pPr marL="0" algn="l">
              <a:spcBef>
                <a:spcPts val="900"/>
              </a:spcBef>
              <a:buNone/>
            </a:pPr>
            <a:r>
              <a:rPr sz="1350" b="0">
                <a:solidFill>
                  <a:srgbClr val="1B334D"/>
                </a:solidFill>
                <a:effectLst/>
                <a:latin typeface="Daytona Regular"/>
              </a:rPr>
              <a:t>1) Define observable behaviors tied to outcomes. </a:t>
            </a:r>
            <a:endParaRPr>
              <a:effectLst/>
            </a:endParaRPr>
          </a:p>
          <a:p>
            <a:pPr marL="0" algn="l">
              <a:spcBef>
                <a:spcPts val="450"/>
              </a:spcBef>
              <a:buNone/>
            </a:pPr>
            <a:r>
              <a:rPr sz="1350" b="0">
                <a:solidFill>
                  <a:srgbClr val="1B334D"/>
                </a:solidFill>
                <a:effectLst/>
                <a:latin typeface="Daytona Regular"/>
              </a:rPr>
              <a:t>2) Measure frequency and context consistently. </a:t>
            </a:r>
            <a:endParaRPr>
              <a:effectLst/>
            </a:endParaRPr>
          </a:p>
          <a:p>
            <a:pPr marL="0" algn="l">
              <a:spcBef>
                <a:spcPts val="450"/>
              </a:spcBef>
              <a:buNone/>
            </a:pPr>
            <a:r>
              <a:rPr sz="1350" b="0">
                <a:solidFill>
                  <a:srgbClr val="1B334D"/>
                </a:solidFill>
                <a:effectLst/>
                <a:latin typeface="Daytona Regular"/>
              </a:rPr>
              <a:t>3) Use findings to reinforce, coach, and remove barriers. 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155C1-65A8-464A-8FF6-EBD88D8A32D4}"/>
              </a:ext>
            </a:extLst>
          </p:cNvPr>
          <p:cNvSpPr txBox="1"/>
          <p:nvPr/>
        </p:nvSpPr>
        <p:spPr>
          <a:xfrm>
            <a:off x="5553075" y="2249537"/>
            <a:ext cx="4476750" cy="12485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algn="l">
              <a:buNone/>
            </a:pPr>
            <a:r>
              <a:rPr sz="1800" b="0">
                <a:solidFill>
                  <a:srgbClr val="01615A"/>
                </a:solidFill>
                <a:effectLst/>
                <a:latin typeface="Daytona Bold" panose="020B0804030500040204" pitchFamily="34" charset="0"/>
              </a:rPr>
              <a:t>Evaluation checks </a:t>
            </a:r>
            <a:endParaRPr>
              <a:effectLst/>
            </a:endParaRPr>
          </a:p>
          <a:p>
            <a:pPr marL="0" algn="l">
              <a:spcBef>
                <a:spcPts val="900"/>
              </a:spcBef>
              <a:buNone/>
            </a:pPr>
            <a:r>
              <a:rPr sz="1350" b="0">
                <a:solidFill>
                  <a:srgbClr val="1B334D"/>
                </a:solidFill>
                <a:effectLst/>
                <a:latin typeface="Daytona Regular"/>
              </a:rPr>
              <a:t>• Are behaviors specific, visible, and repeatable? </a:t>
            </a:r>
            <a:endParaRPr>
              <a:effectLst/>
            </a:endParaRPr>
          </a:p>
          <a:p>
            <a:pPr marL="0" algn="l">
              <a:spcBef>
                <a:spcPts val="450"/>
              </a:spcBef>
              <a:buNone/>
            </a:pPr>
            <a:r>
              <a:rPr sz="1350" b="0">
                <a:solidFill>
                  <a:srgbClr val="1B334D"/>
                </a:solidFill>
                <a:effectLst/>
                <a:latin typeface="Daytona Regular"/>
              </a:rPr>
              <a:t>• Is measurement reliable across observers? </a:t>
            </a:r>
            <a:endParaRPr>
              <a:effectLst/>
            </a:endParaRPr>
          </a:p>
          <a:p>
            <a:pPr marL="0" algn="l">
              <a:spcBef>
                <a:spcPts val="450"/>
              </a:spcBef>
              <a:buNone/>
            </a:pPr>
            <a:r>
              <a:rPr sz="1350" b="0">
                <a:solidFill>
                  <a:srgbClr val="1B334D"/>
                </a:solidFill>
                <a:effectLst/>
                <a:latin typeface="Daytona Regular"/>
              </a:rPr>
              <a:t>• Does feedback lead to a concrete action plan?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31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AAC495-9219-44E5-B835-9E37E498113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3BE860-70A5-5C8B-761B-58B64B4161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9125" y="619125"/>
            <a:ext cx="10953750" cy="469255"/>
          </a:xfrm>
        </p:spPr>
        <p:txBody>
          <a:bodyPr/>
          <a:lstStyle/>
          <a:p>
            <a:pPr marL="0" marR="0" algn="l">
              <a:buNone/>
            </a:pPr>
            <a:r>
              <a:rPr b="1">
                <a:solidFill>
                  <a:srgbClr val="1B334D"/>
                </a:solidFill>
                <a:effectLst/>
                <a:latin typeface="Daytona Bold" panose="020B0804030500040204" pitchFamily="34" charset="0"/>
              </a:rPr>
              <a:t>Appendix 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13DDD-3EAF-4FAC-9828-B8D96B7B1EE5}"/>
              </a:ext>
            </a:extLst>
          </p:cNvPr>
          <p:cNvSpPr txBox="1"/>
          <p:nvPr/>
        </p:nvSpPr>
        <p:spPr>
          <a:xfrm>
            <a:off x="619125" y="1088380"/>
            <a:ext cx="10953750" cy="381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algn="l">
              <a:spcBef>
                <a:spcPts val="750"/>
              </a:spcBef>
              <a:buNone/>
            </a:pPr>
            <a:r>
              <a:rPr sz="1800" b="1">
                <a:solidFill>
                  <a:srgbClr val="01615A"/>
                </a:solidFill>
                <a:effectLst/>
                <a:latin typeface="Daytona Bold" panose="020B0804030500040204" pitchFamily="34" charset="0"/>
              </a:rPr>
              <a:t>Additional reference material 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0C02B-370B-4C6F-83B6-BFBD852ECF5A}"/>
              </a:ext>
            </a:extLst>
          </p:cNvPr>
          <p:cNvSpPr txBox="1"/>
          <p:nvPr/>
        </p:nvSpPr>
        <p:spPr>
          <a:xfrm>
            <a:off x="619125" y="1469380"/>
            <a:ext cx="10953750" cy="59144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algn="l">
              <a:spcBef>
                <a:spcPts val="2700"/>
              </a:spcBef>
              <a:buNone/>
            </a:pPr>
            <a:r>
              <a:rPr sz="1350" b="0">
                <a:solidFill>
                  <a:srgbClr val="1B334D"/>
                </a:solidFill>
                <a:effectLst/>
                <a:latin typeface="Daytona Regular"/>
              </a:rPr>
              <a:t>Appendix material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05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DF10072-02C4-49CD-A62E-A2D45571E0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</TotalTime>
  <Words>1501</Words>
  <Application>Microsoft Macintosh PowerPoint</Application>
  <PresentationFormat>Widescreen</PresentationFormat>
  <Paragraphs>222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Century Gothic</vt:lpstr>
      <vt:lpstr>Daytona Bold</vt:lpstr>
      <vt:lpstr>Daytona Regular</vt:lpstr>
      <vt:lpstr>Gotham Medium</vt:lpstr>
      <vt:lpstr>Segoe UI</vt:lpstr>
      <vt:lpstr>Source Sans Pro</vt:lpstr>
      <vt:lpstr>Office Theme</vt:lpstr>
      <vt:lpstr>SEID 2364: Societal and Ethical Impact of Data Science</vt:lpstr>
      <vt:lpstr>Opening Dissections</vt:lpstr>
      <vt:lpstr>Dissection 1</vt:lpstr>
      <vt:lpstr>Dissection 2</vt:lpstr>
      <vt:lpstr>Dissection 3</vt:lpstr>
      <vt:lpstr>Dissection 4</vt:lpstr>
      <vt:lpstr>Dissection 4: Exemplar</vt:lpstr>
      <vt:lpstr>Dissection 5</vt:lpstr>
      <vt:lpstr>Dissection 5: Exemplar</vt:lpstr>
      <vt:lpstr>PowerPoint Presentation</vt:lpstr>
      <vt:lpstr>Why decisions differ</vt:lpstr>
      <vt:lpstr>Evaluating Frameworks</vt:lpstr>
      <vt:lpstr>PowerPoint Presentation</vt:lpstr>
      <vt:lpstr>Meta Frameworks</vt:lpstr>
      <vt:lpstr>What are the requirements for a Universal Framework? </vt:lpstr>
      <vt:lpstr>Can ethical behavior be applied to a tool?</vt:lpstr>
      <vt:lpstr>Developing new ethical paradigms in combinative reality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David Smith</cp:lastModifiedBy>
  <cp:revision>11</cp:revision>
  <cp:lastPrinted>2026-03-26T14:25:19Z</cp:lastPrinted>
  <dcterms:created xsi:type="dcterms:W3CDTF">2025-08-04T03:17:32Z</dcterms:created>
  <dcterms:modified xsi:type="dcterms:W3CDTF">2026-03-26T15:05:50Z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